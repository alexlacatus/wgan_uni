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39"/>
  </p:notesMasterIdLst>
  <p:handoutMasterIdLst>
    <p:handoutMasterId r:id="rId40"/>
  </p:handoutMasterIdLst>
  <p:sldIdLst>
    <p:sldId id="289" r:id="rId5"/>
    <p:sldId id="288" r:id="rId6"/>
    <p:sldId id="276" r:id="rId7"/>
    <p:sldId id="261" r:id="rId8"/>
    <p:sldId id="264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8" r:id="rId17"/>
    <p:sldId id="299" r:id="rId18"/>
    <p:sldId id="300" r:id="rId19"/>
    <p:sldId id="301" r:id="rId20"/>
    <p:sldId id="257" r:id="rId21"/>
    <p:sldId id="297" r:id="rId22"/>
    <p:sldId id="304" r:id="rId23"/>
    <p:sldId id="303" r:id="rId24"/>
    <p:sldId id="302" r:id="rId25"/>
    <p:sldId id="311" r:id="rId26"/>
    <p:sldId id="312" r:id="rId27"/>
    <p:sldId id="313" r:id="rId28"/>
    <p:sldId id="314" r:id="rId29"/>
    <p:sldId id="305" r:id="rId30"/>
    <p:sldId id="306" r:id="rId31"/>
    <p:sldId id="307" r:id="rId32"/>
    <p:sldId id="308" r:id="rId33"/>
    <p:sldId id="310" r:id="rId34"/>
    <p:sldId id="309" r:id="rId35"/>
    <p:sldId id="315" r:id="rId36"/>
    <p:sldId id="316" r:id="rId37"/>
    <p:sldId id="26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4906D9-A97E-4DA2-8022-7A9C9E3407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EAF8F5-987B-4BDE-9C75-A7316E1E8783}">
      <dgm:prSet/>
      <dgm:spPr/>
      <dgm:t>
        <a:bodyPr/>
        <a:lstStyle/>
        <a:p>
          <a:r>
            <a:rPr lang="en-US" dirty="0" err="1"/>
            <a:t>Algoritm</a:t>
          </a:r>
          <a:r>
            <a:rPr lang="en-US" dirty="0"/>
            <a:t> de </a:t>
          </a:r>
          <a:r>
            <a:rPr lang="en-US" dirty="0" err="1"/>
            <a:t>generare</a:t>
          </a:r>
          <a:r>
            <a:rPr lang="en-US" dirty="0"/>
            <a:t> date </a:t>
          </a:r>
          <a:r>
            <a:rPr lang="en-US" dirty="0" err="1"/>
            <a:t>reale</a:t>
          </a:r>
          <a:r>
            <a:rPr lang="en-US" dirty="0"/>
            <a:t> (</a:t>
          </a:r>
          <a:r>
            <a:rPr lang="en-US" dirty="0" err="1"/>
            <a:t>sintetice</a:t>
          </a:r>
          <a:r>
            <a:rPr lang="en-US" dirty="0"/>
            <a:t>)</a:t>
          </a:r>
        </a:p>
      </dgm:t>
    </dgm:pt>
    <dgm:pt modelId="{699E6810-3A81-487B-BAC8-521AB09DE493}" type="parTrans" cxnId="{8502316E-B276-47DE-88AC-129324B9ECF6}">
      <dgm:prSet/>
      <dgm:spPr/>
      <dgm:t>
        <a:bodyPr/>
        <a:lstStyle/>
        <a:p>
          <a:endParaRPr lang="en-US"/>
        </a:p>
      </dgm:t>
    </dgm:pt>
    <dgm:pt modelId="{E91E4E16-A33E-430C-B803-3A16DAE96C7A}" type="sibTrans" cxnId="{8502316E-B276-47DE-88AC-129324B9ECF6}">
      <dgm:prSet/>
      <dgm:spPr/>
      <dgm:t>
        <a:bodyPr/>
        <a:lstStyle/>
        <a:p>
          <a:endParaRPr lang="en-US"/>
        </a:p>
      </dgm:t>
    </dgm:pt>
    <dgm:pt modelId="{FA16D092-7EAF-4FF1-9DA7-A3D2549BD263}">
      <dgm:prSet/>
      <dgm:spPr/>
      <dgm:t>
        <a:bodyPr/>
        <a:lstStyle/>
        <a:p>
          <a:r>
            <a:rPr lang="en-US"/>
            <a:t>Alogoritm pe baza WGAN-GP pentru antrenarea modelului</a:t>
          </a:r>
        </a:p>
      </dgm:t>
    </dgm:pt>
    <dgm:pt modelId="{795344CA-2F18-4342-8E8E-22ED387B4429}" type="parTrans" cxnId="{7F20F929-D6BF-458D-A0BA-EF337DFCF28D}">
      <dgm:prSet/>
      <dgm:spPr/>
      <dgm:t>
        <a:bodyPr/>
        <a:lstStyle/>
        <a:p>
          <a:endParaRPr lang="en-US"/>
        </a:p>
      </dgm:t>
    </dgm:pt>
    <dgm:pt modelId="{8C8E3925-8C47-4C68-B255-E319FF15DA61}" type="sibTrans" cxnId="{7F20F929-D6BF-458D-A0BA-EF337DFCF28D}">
      <dgm:prSet/>
      <dgm:spPr/>
      <dgm:t>
        <a:bodyPr/>
        <a:lstStyle/>
        <a:p>
          <a:endParaRPr lang="en-US"/>
        </a:p>
      </dgm:t>
    </dgm:pt>
    <dgm:pt modelId="{06285D95-C2F0-4AC7-A0EE-3802480329C3}">
      <dgm:prSet/>
      <dgm:spPr/>
      <dgm:t>
        <a:bodyPr/>
        <a:lstStyle/>
        <a:p>
          <a:r>
            <a:rPr lang="en-US" dirty="0" err="1"/>
            <a:t>Algoritm</a:t>
          </a:r>
          <a:r>
            <a:rPr lang="en-US" dirty="0"/>
            <a:t> de </a:t>
          </a:r>
          <a:r>
            <a:rPr lang="en-US" dirty="0" err="1"/>
            <a:t>generare</a:t>
          </a:r>
          <a:r>
            <a:rPr lang="en-US" dirty="0"/>
            <a:t> </a:t>
          </a:r>
          <a:r>
            <a:rPr lang="en-US" dirty="0" err="1"/>
            <a:t>folosind</a:t>
          </a:r>
          <a:r>
            <a:rPr lang="en-US" dirty="0"/>
            <a:t> </a:t>
          </a:r>
          <a:r>
            <a:rPr lang="en-US" dirty="0" err="1"/>
            <a:t>modelul</a:t>
          </a:r>
          <a:r>
            <a:rPr lang="en-US" dirty="0"/>
            <a:t> </a:t>
          </a:r>
          <a:r>
            <a:rPr lang="en-US" dirty="0" err="1"/>
            <a:t>antrenat</a:t>
          </a:r>
          <a:endParaRPr lang="en-US" dirty="0"/>
        </a:p>
      </dgm:t>
    </dgm:pt>
    <dgm:pt modelId="{BA0406D6-A3DD-4775-9643-144DE4AC46F6}" type="parTrans" cxnId="{0A7C1A06-74F0-4103-A4B9-E49600ED1B22}">
      <dgm:prSet/>
      <dgm:spPr/>
      <dgm:t>
        <a:bodyPr/>
        <a:lstStyle/>
        <a:p>
          <a:endParaRPr lang="en-US"/>
        </a:p>
      </dgm:t>
    </dgm:pt>
    <dgm:pt modelId="{BCDEDCDE-8F58-4637-9A37-5208F6B981AB}" type="sibTrans" cxnId="{0A7C1A06-74F0-4103-A4B9-E49600ED1B22}">
      <dgm:prSet/>
      <dgm:spPr/>
      <dgm:t>
        <a:bodyPr/>
        <a:lstStyle/>
        <a:p>
          <a:endParaRPr lang="en-US"/>
        </a:p>
      </dgm:t>
    </dgm:pt>
    <dgm:pt modelId="{546715B7-DB1F-44B0-929D-3822C70CB390}">
      <dgm:prSet/>
      <dgm:spPr/>
      <dgm:t>
        <a:bodyPr/>
        <a:lstStyle/>
        <a:p>
          <a:r>
            <a:rPr lang="en-US" dirty="0"/>
            <a:t>Api care </a:t>
          </a:r>
          <a:r>
            <a:rPr lang="en-US" dirty="0" err="1"/>
            <a:t>expune</a:t>
          </a:r>
          <a:r>
            <a:rPr lang="en-US" dirty="0"/>
            <a:t> </a:t>
          </a:r>
          <a:r>
            <a:rPr lang="en-US" dirty="0" err="1"/>
            <a:t>modelul</a:t>
          </a:r>
          <a:endParaRPr lang="en-US" dirty="0"/>
        </a:p>
      </dgm:t>
    </dgm:pt>
    <dgm:pt modelId="{0D3FC309-9507-4EEC-AEDE-AC9C428FD85D}" type="parTrans" cxnId="{235FD6C1-A60F-46A7-BBD1-B76029EBB601}">
      <dgm:prSet/>
      <dgm:spPr/>
      <dgm:t>
        <a:bodyPr/>
        <a:lstStyle/>
        <a:p>
          <a:endParaRPr lang="en-US"/>
        </a:p>
      </dgm:t>
    </dgm:pt>
    <dgm:pt modelId="{59A6A9C7-6F9E-44A8-9330-B0B29B14CC6D}" type="sibTrans" cxnId="{235FD6C1-A60F-46A7-BBD1-B76029EBB601}">
      <dgm:prSet/>
      <dgm:spPr/>
      <dgm:t>
        <a:bodyPr/>
        <a:lstStyle/>
        <a:p>
          <a:endParaRPr lang="en-US"/>
        </a:p>
      </dgm:t>
    </dgm:pt>
    <dgm:pt modelId="{F69AB88C-E09C-49E7-B08D-70CC9B8FC625}">
      <dgm:prSet/>
      <dgm:spPr/>
      <dgm:t>
        <a:bodyPr/>
        <a:lstStyle/>
        <a:p>
          <a:r>
            <a:rPr lang="en-US" dirty="0"/>
            <a:t>Back-end care </a:t>
          </a:r>
          <a:r>
            <a:rPr lang="en-US" dirty="0" err="1"/>
            <a:t>mapeaza</a:t>
          </a:r>
          <a:r>
            <a:rPr lang="en-US" dirty="0"/>
            <a:t> </a:t>
          </a:r>
          <a:r>
            <a:rPr lang="en-US" dirty="0" err="1"/>
            <a:t>datele</a:t>
          </a:r>
          <a:r>
            <a:rPr lang="en-US" dirty="0"/>
            <a:t> generate </a:t>
          </a:r>
          <a:r>
            <a:rPr lang="en-US" dirty="0" err="1"/>
            <a:t>catre</a:t>
          </a:r>
          <a:r>
            <a:rPr lang="en-US" dirty="0"/>
            <a:t> date </a:t>
          </a:r>
          <a:r>
            <a:rPr lang="en-US" dirty="0" err="1"/>
            <a:t>folosibile</a:t>
          </a:r>
          <a:endParaRPr lang="en-US" dirty="0"/>
        </a:p>
      </dgm:t>
    </dgm:pt>
    <dgm:pt modelId="{9207DCE6-5148-4269-9A59-DF2CF9406525}" type="parTrans" cxnId="{012C9953-3EB3-4C53-983B-6813209162E2}">
      <dgm:prSet/>
      <dgm:spPr/>
      <dgm:t>
        <a:bodyPr/>
        <a:lstStyle/>
        <a:p>
          <a:endParaRPr lang="en-US"/>
        </a:p>
      </dgm:t>
    </dgm:pt>
    <dgm:pt modelId="{2D972E24-766B-4E54-8B85-3C07C657DDA7}" type="sibTrans" cxnId="{012C9953-3EB3-4C53-983B-6813209162E2}">
      <dgm:prSet/>
      <dgm:spPr/>
      <dgm:t>
        <a:bodyPr/>
        <a:lstStyle/>
        <a:p>
          <a:endParaRPr lang="en-US"/>
        </a:p>
      </dgm:t>
    </dgm:pt>
    <dgm:pt modelId="{34B1EE3E-0424-4A4A-8F8D-F0F220412CB6}" type="pres">
      <dgm:prSet presAssocID="{EE4906D9-A97E-4DA2-8022-7A9C9E3407E8}" presName="linear" presStyleCnt="0">
        <dgm:presLayoutVars>
          <dgm:animLvl val="lvl"/>
          <dgm:resizeHandles val="exact"/>
        </dgm:presLayoutVars>
      </dgm:prSet>
      <dgm:spPr/>
    </dgm:pt>
    <dgm:pt modelId="{D4939528-2B1B-43E6-9DA8-1BE21B8D53C5}" type="pres">
      <dgm:prSet presAssocID="{98EAF8F5-987B-4BDE-9C75-A7316E1E878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ED08DC3-4363-40DD-BDF4-5D099FE3A5F4}" type="pres">
      <dgm:prSet presAssocID="{E91E4E16-A33E-430C-B803-3A16DAE96C7A}" presName="spacer" presStyleCnt="0"/>
      <dgm:spPr/>
    </dgm:pt>
    <dgm:pt modelId="{5F4540D4-7B05-46A9-9DFB-E74DC75F0C99}" type="pres">
      <dgm:prSet presAssocID="{FA16D092-7EAF-4FF1-9DA7-A3D2549BD2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8DD6891-6C6E-4632-9D2B-A1E7E7DB74FB}" type="pres">
      <dgm:prSet presAssocID="{8C8E3925-8C47-4C68-B255-E319FF15DA61}" presName="spacer" presStyleCnt="0"/>
      <dgm:spPr/>
    </dgm:pt>
    <dgm:pt modelId="{CC3B1385-F1F1-4AF7-9415-474FE6F62CA6}" type="pres">
      <dgm:prSet presAssocID="{06285D95-C2F0-4AC7-A0EE-3802480329C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622071-94F7-4850-B933-B462AD6636AB}" type="pres">
      <dgm:prSet presAssocID="{BCDEDCDE-8F58-4637-9A37-5208F6B981AB}" presName="spacer" presStyleCnt="0"/>
      <dgm:spPr/>
    </dgm:pt>
    <dgm:pt modelId="{7D27F038-51A9-4D5B-B714-6F1F84BDF0B4}" type="pres">
      <dgm:prSet presAssocID="{546715B7-DB1F-44B0-929D-3822C70CB3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06AC094-4E3D-4EB3-93D9-E44D399CC8E1}" type="pres">
      <dgm:prSet presAssocID="{59A6A9C7-6F9E-44A8-9330-B0B29B14CC6D}" presName="spacer" presStyleCnt="0"/>
      <dgm:spPr/>
    </dgm:pt>
    <dgm:pt modelId="{C0AE0BEC-2591-44E1-B3E0-3191F518ADC1}" type="pres">
      <dgm:prSet presAssocID="{F69AB88C-E09C-49E7-B08D-70CC9B8FC62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A7C1A06-74F0-4103-A4B9-E49600ED1B22}" srcId="{EE4906D9-A97E-4DA2-8022-7A9C9E3407E8}" destId="{06285D95-C2F0-4AC7-A0EE-3802480329C3}" srcOrd="2" destOrd="0" parTransId="{BA0406D6-A3DD-4775-9643-144DE4AC46F6}" sibTransId="{BCDEDCDE-8F58-4637-9A37-5208F6B981AB}"/>
    <dgm:cxn modelId="{7F20F929-D6BF-458D-A0BA-EF337DFCF28D}" srcId="{EE4906D9-A97E-4DA2-8022-7A9C9E3407E8}" destId="{FA16D092-7EAF-4FF1-9DA7-A3D2549BD263}" srcOrd="1" destOrd="0" parTransId="{795344CA-2F18-4342-8E8E-22ED387B4429}" sibTransId="{8C8E3925-8C47-4C68-B255-E319FF15DA61}"/>
    <dgm:cxn modelId="{08E02B3A-E337-44D7-BB1A-3DD80FBE64B8}" type="presOf" srcId="{06285D95-C2F0-4AC7-A0EE-3802480329C3}" destId="{CC3B1385-F1F1-4AF7-9415-474FE6F62CA6}" srcOrd="0" destOrd="0" presId="urn:microsoft.com/office/officeart/2005/8/layout/vList2"/>
    <dgm:cxn modelId="{8502316E-B276-47DE-88AC-129324B9ECF6}" srcId="{EE4906D9-A97E-4DA2-8022-7A9C9E3407E8}" destId="{98EAF8F5-987B-4BDE-9C75-A7316E1E8783}" srcOrd="0" destOrd="0" parTransId="{699E6810-3A81-487B-BAC8-521AB09DE493}" sibTransId="{E91E4E16-A33E-430C-B803-3A16DAE96C7A}"/>
    <dgm:cxn modelId="{9A388953-863F-4C1F-96EC-676A614A0537}" type="presOf" srcId="{FA16D092-7EAF-4FF1-9DA7-A3D2549BD263}" destId="{5F4540D4-7B05-46A9-9DFB-E74DC75F0C99}" srcOrd="0" destOrd="0" presId="urn:microsoft.com/office/officeart/2005/8/layout/vList2"/>
    <dgm:cxn modelId="{012C9953-3EB3-4C53-983B-6813209162E2}" srcId="{EE4906D9-A97E-4DA2-8022-7A9C9E3407E8}" destId="{F69AB88C-E09C-49E7-B08D-70CC9B8FC625}" srcOrd="4" destOrd="0" parTransId="{9207DCE6-5148-4269-9A59-DF2CF9406525}" sibTransId="{2D972E24-766B-4E54-8B85-3C07C657DDA7}"/>
    <dgm:cxn modelId="{E6300790-B248-4FE0-A783-D5C8E7000C67}" type="presOf" srcId="{EE4906D9-A97E-4DA2-8022-7A9C9E3407E8}" destId="{34B1EE3E-0424-4A4A-8F8D-F0F220412CB6}" srcOrd="0" destOrd="0" presId="urn:microsoft.com/office/officeart/2005/8/layout/vList2"/>
    <dgm:cxn modelId="{75384C93-B06E-4FD1-9570-89C8DC48F842}" type="presOf" srcId="{546715B7-DB1F-44B0-929D-3822C70CB390}" destId="{7D27F038-51A9-4D5B-B714-6F1F84BDF0B4}" srcOrd="0" destOrd="0" presId="urn:microsoft.com/office/officeart/2005/8/layout/vList2"/>
    <dgm:cxn modelId="{235FD6C1-A60F-46A7-BBD1-B76029EBB601}" srcId="{EE4906D9-A97E-4DA2-8022-7A9C9E3407E8}" destId="{546715B7-DB1F-44B0-929D-3822C70CB390}" srcOrd="3" destOrd="0" parTransId="{0D3FC309-9507-4EEC-AEDE-AC9C428FD85D}" sibTransId="{59A6A9C7-6F9E-44A8-9330-B0B29B14CC6D}"/>
    <dgm:cxn modelId="{182418E6-6432-4346-87E3-AEB540471717}" type="presOf" srcId="{98EAF8F5-987B-4BDE-9C75-A7316E1E8783}" destId="{D4939528-2B1B-43E6-9DA8-1BE21B8D53C5}" srcOrd="0" destOrd="0" presId="urn:microsoft.com/office/officeart/2005/8/layout/vList2"/>
    <dgm:cxn modelId="{8D7F1FE7-68E9-4500-99E0-E1419F6E3504}" type="presOf" srcId="{F69AB88C-E09C-49E7-B08D-70CC9B8FC625}" destId="{C0AE0BEC-2591-44E1-B3E0-3191F518ADC1}" srcOrd="0" destOrd="0" presId="urn:microsoft.com/office/officeart/2005/8/layout/vList2"/>
    <dgm:cxn modelId="{3F7D84EC-F13B-443E-A985-BBF5A122B3BF}" type="presParOf" srcId="{34B1EE3E-0424-4A4A-8F8D-F0F220412CB6}" destId="{D4939528-2B1B-43E6-9DA8-1BE21B8D53C5}" srcOrd="0" destOrd="0" presId="urn:microsoft.com/office/officeart/2005/8/layout/vList2"/>
    <dgm:cxn modelId="{5761C79A-A5FD-4378-97E5-B87A255AF796}" type="presParOf" srcId="{34B1EE3E-0424-4A4A-8F8D-F0F220412CB6}" destId="{BED08DC3-4363-40DD-BDF4-5D099FE3A5F4}" srcOrd="1" destOrd="0" presId="urn:microsoft.com/office/officeart/2005/8/layout/vList2"/>
    <dgm:cxn modelId="{980A33A2-54DB-46C1-849C-1569AA27CD49}" type="presParOf" srcId="{34B1EE3E-0424-4A4A-8F8D-F0F220412CB6}" destId="{5F4540D4-7B05-46A9-9DFB-E74DC75F0C99}" srcOrd="2" destOrd="0" presId="urn:microsoft.com/office/officeart/2005/8/layout/vList2"/>
    <dgm:cxn modelId="{A5CA97C7-5E73-425B-8BB4-3752C90B30C9}" type="presParOf" srcId="{34B1EE3E-0424-4A4A-8F8D-F0F220412CB6}" destId="{18DD6891-6C6E-4632-9D2B-A1E7E7DB74FB}" srcOrd="3" destOrd="0" presId="urn:microsoft.com/office/officeart/2005/8/layout/vList2"/>
    <dgm:cxn modelId="{D00B7CCD-660E-47E5-9972-254A864F137C}" type="presParOf" srcId="{34B1EE3E-0424-4A4A-8F8D-F0F220412CB6}" destId="{CC3B1385-F1F1-4AF7-9415-474FE6F62CA6}" srcOrd="4" destOrd="0" presId="urn:microsoft.com/office/officeart/2005/8/layout/vList2"/>
    <dgm:cxn modelId="{13701B7E-2C37-4CCC-98C7-5A0DCB4E720F}" type="presParOf" srcId="{34B1EE3E-0424-4A4A-8F8D-F0F220412CB6}" destId="{9B622071-94F7-4850-B933-B462AD6636AB}" srcOrd="5" destOrd="0" presId="urn:microsoft.com/office/officeart/2005/8/layout/vList2"/>
    <dgm:cxn modelId="{CAF927F8-28CA-4856-B5A2-6E75C65BDB18}" type="presParOf" srcId="{34B1EE3E-0424-4A4A-8F8D-F0F220412CB6}" destId="{7D27F038-51A9-4D5B-B714-6F1F84BDF0B4}" srcOrd="6" destOrd="0" presId="urn:microsoft.com/office/officeart/2005/8/layout/vList2"/>
    <dgm:cxn modelId="{1C7F31E8-4950-4CF3-A8B0-AD45DB158592}" type="presParOf" srcId="{34B1EE3E-0424-4A4A-8F8D-F0F220412CB6}" destId="{006AC094-4E3D-4EB3-93D9-E44D399CC8E1}" srcOrd="7" destOrd="0" presId="urn:microsoft.com/office/officeart/2005/8/layout/vList2"/>
    <dgm:cxn modelId="{FB87B06D-E7CA-4698-9FE0-DABEBDE01DF6}" type="presParOf" srcId="{34B1EE3E-0424-4A4A-8F8D-F0F220412CB6}" destId="{C0AE0BEC-2591-44E1-B3E0-3191F518ADC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9528-2B1B-43E6-9DA8-1BE21B8D53C5}">
      <dsp:nvSpPr>
        <dsp:cNvPr id="0" name=""/>
        <dsp:cNvSpPr/>
      </dsp:nvSpPr>
      <dsp:spPr>
        <a:xfrm>
          <a:off x="0" y="536400"/>
          <a:ext cx="6941703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Algoritm</a:t>
          </a:r>
          <a:r>
            <a:rPr lang="en-US" sz="2400" kern="1200" dirty="0"/>
            <a:t> de </a:t>
          </a:r>
          <a:r>
            <a:rPr lang="en-US" sz="2400" kern="1200" dirty="0" err="1"/>
            <a:t>generare</a:t>
          </a:r>
          <a:r>
            <a:rPr lang="en-US" sz="2400" kern="1200" dirty="0"/>
            <a:t> date </a:t>
          </a:r>
          <a:r>
            <a:rPr lang="en-US" sz="2400" kern="1200" dirty="0" err="1"/>
            <a:t>reale</a:t>
          </a:r>
          <a:r>
            <a:rPr lang="en-US" sz="2400" kern="1200" dirty="0"/>
            <a:t> (</a:t>
          </a:r>
          <a:r>
            <a:rPr lang="en-US" sz="2400" kern="1200" dirty="0" err="1"/>
            <a:t>sintetice</a:t>
          </a:r>
          <a:r>
            <a:rPr lang="en-US" sz="2400" kern="1200" dirty="0"/>
            <a:t>)</a:t>
          </a:r>
        </a:p>
      </dsp:txBody>
      <dsp:txXfrm>
        <a:off x="28786" y="565186"/>
        <a:ext cx="6884131" cy="532107"/>
      </dsp:txXfrm>
    </dsp:sp>
    <dsp:sp modelId="{5F4540D4-7B05-46A9-9DFB-E74DC75F0C99}">
      <dsp:nvSpPr>
        <dsp:cNvPr id="0" name=""/>
        <dsp:cNvSpPr/>
      </dsp:nvSpPr>
      <dsp:spPr>
        <a:xfrm>
          <a:off x="0" y="1195200"/>
          <a:ext cx="6941703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Alogoritm pe baza WGAN-GP pentru antrenarea modelului</a:t>
          </a:r>
        </a:p>
      </dsp:txBody>
      <dsp:txXfrm>
        <a:off x="28786" y="1223986"/>
        <a:ext cx="6884131" cy="532107"/>
      </dsp:txXfrm>
    </dsp:sp>
    <dsp:sp modelId="{CC3B1385-F1F1-4AF7-9415-474FE6F62CA6}">
      <dsp:nvSpPr>
        <dsp:cNvPr id="0" name=""/>
        <dsp:cNvSpPr/>
      </dsp:nvSpPr>
      <dsp:spPr>
        <a:xfrm>
          <a:off x="0" y="1854000"/>
          <a:ext cx="6941703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Algoritm</a:t>
          </a:r>
          <a:r>
            <a:rPr lang="en-US" sz="2400" kern="1200" dirty="0"/>
            <a:t> de </a:t>
          </a:r>
          <a:r>
            <a:rPr lang="en-US" sz="2400" kern="1200" dirty="0" err="1"/>
            <a:t>generare</a:t>
          </a:r>
          <a:r>
            <a:rPr lang="en-US" sz="2400" kern="1200" dirty="0"/>
            <a:t> </a:t>
          </a:r>
          <a:r>
            <a:rPr lang="en-US" sz="2400" kern="1200" dirty="0" err="1"/>
            <a:t>folosind</a:t>
          </a:r>
          <a:r>
            <a:rPr lang="en-US" sz="2400" kern="1200" dirty="0"/>
            <a:t> </a:t>
          </a:r>
          <a:r>
            <a:rPr lang="en-US" sz="2400" kern="1200" dirty="0" err="1"/>
            <a:t>modelul</a:t>
          </a:r>
          <a:r>
            <a:rPr lang="en-US" sz="2400" kern="1200" dirty="0"/>
            <a:t> </a:t>
          </a:r>
          <a:r>
            <a:rPr lang="en-US" sz="2400" kern="1200" dirty="0" err="1"/>
            <a:t>antrenat</a:t>
          </a:r>
          <a:endParaRPr lang="en-US" sz="2400" kern="1200" dirty="0"/>
        </a:p>
      </dsp:txBody>
      <dsp:txXfrm>
        <a:off x="28786" y="1882786"/>
        <a:ext cx="6884131" cy="532107"/>
      </dsp:txXfrm>
    </dsp:sp>
    <dsp:sp modelId="{7D27F038-51A9-4D5B-B714-6F1F84BDF0B4}">
      <dsp:nvSpPr>
        <dsp:cNvPr id="0" name=""/>
        <dsp:cNvSpPr/>
      </dsp:nvSpPr>
      <dsp:spPr>
        <a:xfrm>
          <a:off x="0" y="2512800"/>
          <a:ext cx="6941703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Api care </a:t>
          </a:r>
          <a:r>
            <a:rPr lang="en-US" sz="2400" kern="1200" dirty="0" err="1"/>
            <a:t>expune</a:t>
          </a:r>
          <a:r>
            <a:rPr lang="en-US" sz="2400" kern="1200" dirty="0"/>
            <a:t> </a:t>
          </a:r>
          <a:r>
            <a:rPr lang="en-US" sz="2400" kern="1200" dirty="0" err="1"/>
            <a:t>modelul</a:t>
          </a:r>
          <a:endParaRPr lang="en-US" sz="2400" kern="1200" dirty="0"/>
        </a:p>
      </dsp:txBody>
      <dsp:txXfrm>
        <a:off x="28786" y="2541586"/>
        <a:ext cx="6884131" cy="532107"/>
      </dsp:txXfrm>
    </dsp:sp>
    <dsp:sp modelId="{C0AE0BEC-2591-44E1-B3E0-3191F518ADC1}">
      <dsp:nvSpPr>
        <dsp:cNvPr id="0" name=""/>
        <dsp:cNvSpPr/>
      </dsp:nvSpPr>
      <dsp:spPr>
        <a:xfrm>
          <a:off x="0" y="3171599"/>
          <a:ext cx="6941703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Back-end care </a:t>
          </a:r>
          <a:r>
            <a:rPr lang="en-US" sz="2400" kern="1200" dirty="0" err="1"/>
            <a:t>mapeaza</a:t>
          </a:r>
          <a:r>
            <a:rPr lang="en-US" sz="2400" kern="1200" dirty="0"/>
            <a:t> </a:t>
          </a:r>
          <a:r>
            <a:rPr lang="en-US" sz="2400" kern="1200" dirty="0" err="1"/>
            <a:t>datele</a:t>
          </a:r>
          <a:r>
            <a:rPr lang="en-US" sz="2400" kern="1200" dirty="0"/>
            <a:t> generate </a:t>
          </a:r>
          <a:r>
            <a:rPr lang="en-US" sz="2400" kern="1200" dirty="0" err="1"/>
            <a:t>catre</a:t>
          </a:r>
          <a:r>
            <a:rPr lang="en-US" sz="2400" kern="1200" dirty="0"/>
            <a:t> date </a:t>
          </a:r>
          <a:r>
            <a:rPr lang="en-US" sz="2400" kern="1200" dirty="0" err="1"/>
            <a:t>folosibile</a:t>
          </a:r>
          <a:endParaRPr lang="en-US" sz="2400" kern="1200" dirty="0"/>
        </a:p>
      </dsp:txBody>
      <dsp:txXfrm>
        <a:off x="28786" y="3200385"/>
        <a:ext cx="6884131" cy="532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26B7-BE8C-B7CB-3FFC-532DC87E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D436A-E181-8E1F-6FA1-126BA0FCA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8F8EA-0577-BB07-6DAD-7F84AFA5D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5AC4B-A8E8-9B64-32D0-BA92B1D99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3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CAF7-192D-2A68-7886-BD4AAA1C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A4960-D2A0-8A60-FC56-A8AA997C5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EC6F2-1623-8823-5F99-FD315D0EA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598CB-C1BD-AD61-B0A1-DD97864FB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1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D605-3B84-A81C-4567-27C288DB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42325-F0B6-7AB1-BF5A-7E8271C73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67475-6312-B9BD-3C9E-5EB056371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11DD-3EB8-DA14-75CC-AFB3C5BA3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9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0069-23B7-FE96-7F01-3DBD42FC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B9E6D-B866-DAAF-ECD7-67FF666E7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431E4-8025-0F9C-2BA2-2E7069EC3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02D2-508E-071E-C1E6-DFC93896A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22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6F197-F3CD-1F23-E08D-39B77939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91A63-7672-4AED-66E0-C66679F61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C0B90-489D-873F-6933-BDAC99CA1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D75E5-C73D-11FE-320A-5947D859B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74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66A5-F9D0-29AE-72C4-BB4F9304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9B5C5-20BD-CD53-9112-E7CDF7098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31593-1540-3BD2-ABF9-94E9F8E07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2CA8B-F2D5-22A6-99D6-ED8EB21AB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20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931B-3756-368A-3047-094794EC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18250-B50A-FE4B-8F83-7F8B3D3AC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C647E-E4DA-6D67-C1B2-E74B5E8EA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C1AF4-F3CC-B105-060B-541A9C29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62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5780-6E7D-8CF1-BE39-63A45A7D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3D244-88E7-057A-7715-703ED23BF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AA0EC-4C11-EAAD-7B89-E20F1A5FB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2CB8-538C-4878-56A3-16184E517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8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F61F-626A-011F-BF0A-68C7B0D0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E6F46-2B8F-7F9E-BBEB-4D299E215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92D8F-7C70-ED31-AF2F-1A6F4DFD5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A15C-4A14-1136-A230-3D48C698B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11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D6B2-B37F-49B9-EFC0-B580E0F7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04213-FDA5-14DF-C881-B1AB865B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52923-6EE5-1425-1860-CA73371BE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C9AD-44FD-7908-A878-31D3FE75F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24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21A5-B22B-07D0-182A-F6325183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48840-B6FE-D8B1-458D-2DD5F28BE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44A25-649A-7AAB-4596-80C9C34AE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60126-83A6-3DF4-A790-AA2843C2E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87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FD10-EB9A-DA66-ED89-BD15DE72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94ADB-1A45-8948-FF16-761AA197E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38DCC-9408-8B78-7C9D-075332C5E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F1712-3698-91ED-38E5-B90C27B4E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6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3" r:id="rId15"/>
    <p:sldLayoutId id="2147483684" r:id="rId16"/>
    <p:sldLayoutId id="2147483685" r:id="rId17"/>
    <p:sldLayoutId id="214748369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transactions/raw-convert" TargetMode="External"/><Relationship Id="rId2" Type="http://schemas.openxmlformats.org/officeDocument/2006/relationships/hyperlink" Target="http://localhost:8080/api/transactions" TargetMode="Externa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Wgan-gp</a:t>
            </a:r>
            <a:r>
              <a:rPr lang="en-US" dirty="0"/>
              <a:t> hybrid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tranzactii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Lacatus Arpad-Alex TIE</a:t>
            </a:r>
            <a:endParaRPr lang="en-US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endParaRPr lang="en-US" dirty="0"/>
          </a:p>
          <a:p>
            <a:r>
              <a:rPr lang="en-US" dirty="0"/>
              <a:t>Set de date</a:t>
            </a:r>
          </a:p>
          <a:p>
            <a:r>
              <a:rPr lang="en-US" dirty="0"/>
              <a:t>Instructiuni de </a:t>
            </a:r>
            <a:r>
              <a:rPr lang="en-US" dirty="0" err="1"/>
              <a:t>utilizare</a:t>
            </a:r>
            <a:endParaRPr lang="en-US" dirty="0"/>
          </a:p>
          <a:p>
            <a:r>
              <a:rPr lang="en-US" dirty="0" err="1"/>
              <a:t>Evaluare</a:t>
            </a:r>
            <a:endParaRPr lang="en-US" dirty="0"/>
          </a:p>
          <a:p>
            <a:r>
              <a:rPr lang="en-US" dirty="0" err="1"/>
              <a:t>Discutie</a:t>
            </a:r>
            <a:r>
              <a:rPr lang="en-US" dirty="0"/>
              <a:t> </a:t>
            </a:r>
            <a:r>
              <a:rPr lang="en-US" dirty="0" err="1"/>
              <a:t>critica</a:t>
            </a:r>
            <a:endParaRPr lang="en-US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 err="1"/>
              <a:t>Arhitectura</a:t>
            </a: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Parti </a:t>
            </a:r>
            <a:r>
              <a:rPr lang="en-US" dirty="0" err="1"/>
              <a:t>principale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EF091DC6-5026-6FF5-4F53-426F8FB0CBE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970116" y="2022395"/>
          <a:ext cx="6941703" cy="429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lvl="0"/>
            <a:r>
              <a:rPr lang="en-US" b="1" dirty="0" err="1"/>
              <a:t>Algoritm</a:t>
            </a:r>
            <a:r>
              <a:rPr lang="en-US" b="1" dirty="0"/>
              <a:t> de </a:t>
            </a:r>
            <a:r>
              <a:rPr lang="en-US" b="1" dirty="0" err="1"/>
              <a:t>generare</a:t>
            </a:r>
            <a:r>
              <a:rPr lang="en-US" b="1" dirty="0"/>
              <a:t> date </a:t>
            </a:r>
            <a:r>
              <a:rPr lang="en-US" b="1" dirty="0" err="1"/>
              <a:t>reale</a:t>
            </a:r>
            <a:r>
              <a:rPr lang="en-US" b="1" dirty="0"/>
              <a:t> (</a:t>
            </a:r>
            <a:r>
              <a:rPr lang="en-US" b="1" dirty="0" err="1"/>
              <a:t>sintetice</a:t>
            </a:r>
            <a:r>
              <a:rPr lang="en-US" b="1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214039" cy="406749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 err="1"/>
              <a:t>Algoritm</a:t>
            </a:r>
            <a:r>
              <a:rPr lang="en-US" b="1" dirty="0"/>
              <a:t> </a:t>
            </a:r>
            <a:r>
              <a:rPr lang="en-US" b="1" dirty="0" err="1"/>
              <a:t>folosit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a genera </a:t>
            </a:r>
            <a:r>
              <a:rPr lang="en-US" b="1" dirty="0" err="1"/>
              <a:t>datele</a:t>
            </a:r>
            <a:r>
              <a:rPr lang="en-US" b="1" dirty="0"/>
              <a:t> care </a:t>
            </a:r>
            <a:r>
              <a:rPr lang="en-US" b="1" dirty="0" err="1"/>
              <a:t>vor</a:t>
            </a:r>
            <a:r>
              <a:rPr lang="en-US" b="1" dirty="0"/>
              <a:t> fi </a:t>
            </a:r>
            <a:r>
              <a:rPr lang="en-US" b="1" dirty="0" err="1"/>
              <a:t>folosite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antrenare</a:t>
            </a:r>
            <a:r>
              <a:rPr lang="en-US" b="1" dirty="0"/>
              <a:t>. </a:t>
            </a:r>
            <a:r>
              <a:rPr lang="en-US" b="1" dirty="0" err="1"/>
              <a:t>Aceasta</a:t>
            </a:r>
            <a:r>
              <a:rPr lang="en-US" b="1" dirty="0"/>
              <a:t> solute a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folosita</a:t>
            </a:r>
            <a:r>
              <a:rPr lang="en-US" b="1" dirty="0"/>
              <a:t> </a:t>
            </a:r>
            <a:r>
              <a:rPr lang="en-US" b="1" dirty="0" err="1"/>
              <a:t>datorita</a:t>
            </a:r>
            <a:r>
              <a:rPr lang="en-US" b="1" dirty="0"/>
              <a:t> </a:t>
            </a:r>
            <a:r>
              <a:rPr lang="en-US" b="1" dirty="0" err="1"/>
              <a:t>seturilor</a:t>
            </a:r>
            <a:r>
              <a:rPr lang="en-US" b="1" dirty="0"/>
              <a:t> </a:t>
            </a:r>
            <a:r>
              <a:rPr lang="en-US" b="1" dirty="0" err="1"/>
              <a:t>nesatisafcatorii</a:t>
            </a:r>
            <a:r>
              <a:rPr lang="en-US" b="1" dirty="0"/>
              <a:t> de date(</a:t>
            </a:r>
            <a:r>
              <a:rPr lang="en-US" b="1" dirty="0" err="1"/>
              <a:t>putine</a:t>
            </a:r>
            <a:r>
              <a:rPr lang="en-US" b="1" dirty="0"/>
              <a:t> </a:t>
            </a:r>
            <a:r>
              <a:rPr lang="en-US" b="1" dirty="0" err="1"/>
              <a:t>dimensiuni</a:t>
            </a:r>
            <a:r>
              <a:rPr lang="en-US" b="1" dirty="0"/>
              <a:t>, </a:t>
            </a:r>
            <a:r>
              <a:rPr lang="en-US" b="1" dirty="0" err="1"/>
              <a:t>fara</a:t>
            </a:r>
            <a:r>
              <a:rPr lang="en-US" b="1" dirty="0"/>
              <a:t> date </a:t>
            </a:r>
            <a:r>
              <a:rPr lang="en-US" b="1" dirty="0" err="1"/>
              <a:t>confidentiale</a:t>
            </a:r>
            <a:r>
              <a:rPr lang="en-US" b="1" dirty="0"/>
              <a:t>)</a:t>
            </a:r>
          </a:p>
          <a:p>
            <a:br>
              <a:rPr lang="en-US" b="1" dirty="0"/>
            </a:br>
            <a:r>
              <a:rPr lang="en-US" b="1" dirty="0" err="1"/>
              <a:t>Structura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 Generate</a:t>
            </a:r>
          </a:p>
          <a:p>
            <a:r>
              <a:rPr lang="en-US" b="1" dirty="0" err="1"/>
              <a:t>Datele</a:t>
            </a:r>
            <a:r>
              <a:rPr lang="en-US" b="1" dirty="0"/>
              <a:t> </a:t>
            </a:r>
            <a:r>
              <a:rPr lang="en-US" b="1" dirty="0" err="1"/>
              <a:t>respectă</a:t>
            </a:r>
            <a:r>
              <a:rPr lang="en-US" b="1" dirty="0"/>
              <a:t> </a:t>
            </a:r>
            <a:r>
              <a:rPr lang="en-US" b="1" dirty="0" err="1"/>
              <a:t>structura</a:t>
            </a:r>
            <a:r>
              <a:rPr lang="en-US" b="1" dirty="0"/>
              <a:t> </a:t>
            </a:r>
            <a:r>
              <a:rPr lang="en-US" b="1" dirty="0" err="1"/>
              <a:t>exactă</a:t>
            </a:r>
            <a:r>
              <a:rPr lang="en-US" b="1" dirty="0"/>
              <a:t> </a:t>
            </a:r>
            <a:r>
              <a:rPr lang="en-US" b="1" dirty="0" err="1"/>
              <a:t>așteptată</a:t>
            </a:r>
            <a:r>
              <a:rPr lang="en-US" b="1" dirty="0"/>
              <a:t> de </a:t>
            </a:r>
            <a:r>
              <a:rPr lang="en-US" b="1" dirty="0" err="1"/>
              <a:t>modelul</a:t>
            </a:r>
            <a:r>
              <a:rPr lang="en-US" b="1" dirty="0"/>
              <a:t> GAN: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Condiții</a:t>
            </a:r>
            <a:r>
              <a:rPr lang="en-US" b="1" dirty="0"/>
              <a:t> (Continue): 10 </a:t>
            </a:r>
            <a:r>
              <a:rPr lang="en-US" b="1" dirty="0" err="1"/>
              <a:t>coloane</a:t>
            </a:r>
            <a:r>
              <a:rPr lang="en-US" b="1" dirty="0"/>
              <a:t> (Cond_0...Cond_9) cu </a:t>
            </a:r>
            <a:r>
              <a:rPr lang="en-US" b="1" dirty="0" err="1"/>
              <a:t>valori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intervalul</a:t>
            </a:r>
            <a:r>
              <a:rPr lang="en-US" b="1" dirty="0"/>
              <a:t> $[-1, 1]$.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Produse</a:t>
            </a:r>
            <a:r>
              <a:rPr lang="en-US" b="1" dirty="0"/>
              <a:t> (</a:t>
            </a:r>
            <a:r>
              <a:rPr lang="en-US" b="1" dirty="0" err="1"/>
              <a:t>Categorice</a:t>
            </a:r>
            <a:r>
              <a:rPr lang="en-US" b="1" dirty="0"/>
              <a:t>): 50 de </a:t>
            </a:r>
            <a:r>
              <a:rPr lang="en-US" b="1" dirty="0" err="1"/>
              <a:t>coloane</a:t>
            </a:r>
            <a:r>
              <a:rPr lang="en-US" b="1" dirty="0"/>
              <a:t> de tip One-Hot (ProdID_0...ProdID_49).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Cantitate</a:t>
            </a:r>
            <a:r>
              <a:rPr lang="en-US" b="1" dirty="0"/>
              <a:t> (</a:t>
            </a:r>
            <a:r>
              <a:rPr lang="en-US" b="1" dirty="0" err="1"/>
              <a:t>Țintă</a:t>
            </a:r>
            <a:r>
              <a:rPr lang="en-US" b="1" dirty="0"/>
              <a:t>): </a:t>
            </a:r>
            <a:r>
              <a:rPr lang="en-US" b="1" dirty="0" err="1"/>
              <a:t>Coloana</a:t>
            </a:r>
            <a:r>
              <a:rPr lang="en-US" b="1" dirty="0"/>
              <a:t> Quantity (</a:t>
            </a:r>
            <a:r>
              <a:rPr lang="en-US" b="1" dirty="0" err="1"/>
              <a:t>între</a:t>
            </a:r>
            <a:r>
              <a:rPr lang="en-US" b="1" dirty="0"/>
              <a:t> 1 </a:t>
            </a:r>
            <a:r>
              <a:rPr lang="en-US" b="1" dirty="0" err="1"/>
              <a:t>și</a:t>
            </a:r>
            <a:r>
              <a:rPr lang="en-US" b="1" dirty="0"/>
              <a:t> 50), a </a:t>
            </a:r>
            <a:r>
              <a:rPr lang="en-US" b="1" dirty="0" err="1"/>
              <a:t>cărei</a:t>
            </a:r>
            <a:r>
              <a:rPr lang="en-US" b="1" dirty="0"/>
              <a:t> </a:t>
            </a:r>
            <a:r>
              <a:rPr lang="en-US" b="1" dirty="0" err="1"/>
              <a:t>valoare</a:t>
            </a:r>
            <a:r>
              <a:rPr lang="en-US" b="1" dirty="0"/>
              <a:t>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corelată</a:t>
            </a:r>
            <a:r>
              <a:rPr lang="en-US" b="1" dirty="0"/>
              <a:t> </a:t>
            </a:r>
            <a:r>
              <a:rPr lang="en-US" b="1" dirty="0" err="1"/>
              <a:t>intenționat</a:t>
            </a:r>
            <a:r>
              <a:rPr lang="en-US" b="1" dirty="0"/>
              <a:t> cu </a:t>
            </a:r>
            <a:r>
              <a:rPr lang="en-US" b="1" dirty="0" err="1"/>
              <a:t>primele</a:t>
            </a:r>
            <a:r>
              <a:rPr lang="en-US" b="1" dirty="0"/>
              <a:t> </a:t>
            </a:r>
            <a:r>
              <a:rPr lang="en-US" b="1" dirty="0" err="1"/>
              <a:t>două</a:t>
            </a:r>
            <a:r>
              <a:rPr lang="en-US" b="1" dirty="0"/>
              <a:t> </a:t>
            </a:r>
            <a:r>
              <a:rPr lang="en-US" b="1" dirty="0" err="1"/>
              <a:t>coloane</a:t>
            </a:r>
            <a:r>
              <a:rPr lang="en-US" b="1" dirty="0"/>
              <a:t> de </a:t>
            </a:r>
            <a:r>
              <a:rPr lang="en-US" b="1" dirty="0" err="1"/>
              <a:t>condiție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7931-1B07-5C46-66F2-B723F54B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B09B-4E71-14F6-8DD1-E3262D9C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353567"/>
          </a:xfrm>
          <a:noFill/>
        </p:spPr>
        <p:txBody>
          <a:bodyPr/>
          <a:lstStyle/>
          <a:p>
            <a:r>
              <a:rPr lang="en-US" b="1"/>
              <a:t>Arhitectura WGAN-GP Hibrida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0F37D-E419-6146-8D13-6378093B5E6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996696"/>
            <a:ext cx="10214039" cy="5413248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r>
              <a:rPr lang="en-US" b="1"/>
              <a:t>Generatorul este conceput pentru a genera tranzacții compuse, plecând de la un vector de zgomot (NOISE_DIM = 128) și un vector de condiție (CONDITION_DIM = 10).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Trunchiul Comun (common_trunk)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b="1"/>
              <a:t>Intrare: Zgomotul concatenat cu condiția 128 + 10 = 138 dimensiuni).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b="1"/>
              <a:t>Structură: Două straturi liniare dense (nn.Linear) separate prin funcția de activare ReLU.Rol: Extrage trăsături generale și învață corelațiile dintre zgomot și condiții.</a:t>
            </a:r>
          </a:p>
          <a:p>
            <a:pPr marL="342900" lvl="1" indent="-342900"/>
            <a:r>
              <a:rPr lang="en-US" b="1"/>
              <a:t>Capetele de Ieșire (Split Heads) 🔥Trunchiul comun este ramificat în trei "capete" specializate, ceea ce permite Generatorului să gestioneze diferit tipurile de date: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b="1"/>
              <a:t>Capul Continuu (continuous_head):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Ieșire: 10 dimensiuni.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Activare: Tanh (limitează valorile la intervalul [-1, 1], standard pentru caracteristicile normalizate).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b="1"/>
              <a:t>Capul Categoric (categorical_head):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Ieșire: 50 dimensiuni (PRODUCT_ID_DIM).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Activare: Utilizează Gumbel-Softmax (aplicat în forward). Acest mecanism esențial transformă scorurile brute (logits) într-un vector de tip one-hot diferențiabil, permițând generarea de ID-uri de produs discrete.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b="1"/>
              <a:t>Capul Cantității (quantity_head):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Ieșire: 1 dimensiune.</a:t>
            </a:r>
          </a:p>
          <a:p>
            <a:pPr marL="1028700" lvl="3" indent="-342900">
              <a:buFont typeface="Wingdings" panose="05000000000000000000" pitchFamily="2" charset="2"/>
              <a:buChar char="v"/>
            </a:pPr>
            <a:r>
              <a:rPr lang="en-US" b="1"/>
              <a:t>Activare: ReLU și Clamp (limitează valoarea finală strict la intervalul normalizat $\mathbf{[0.0, 1.0]}$). Acest lucru este crucial pentru a respecta constrângerea fizică a cantității maxime.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679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3A06-BE08-2BE7-E78E-65D1A0CF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 </a:t>
            </a:r>
            <a:r>
              <a:rPr lang="en-US" dirty="0" err="1"/>
              <a:t>sursa</a:t>
            </a:r>
            <a:r>
              <a:rPr lang="en-US" dirty="0"/>
              <a:t> generator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DCF96D-BC01-8BD9-0061-246EEF13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85" y="1915557"/>
            <a:ext cx="4005201" cy="4680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A62921-B1BD-F6A4-3378-29F85F65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9977"/>
            <a:ext cx="5562920" cy="42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2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9F63-1496-FB8F-D754-6823E3C8A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1D9E-F503-CC3B-1C18-0A52218E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353567"/>
          </a:xfrm>
          <a:noFill/>
        </p:spPr>
        <p:txBody>
          <a:bodyPr/>
          <a:lstStyle/>
          <a:p>
            <a:r>
              <a:rPr lang="en-US" b="1" dirty="0" err="1"/>
              <a:t>Criticul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DE2B3-F519-EE68-8225-B9FD50000CF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996696"/>
            <a:ext cx="10214039" cy="54132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000" b="1" dirty="0" err="1"/>
              <a:t>Criticul</a:t>
            </a:r>
            <a:r>
              <a:rPr lang="en-US" sz="2000" b="1" dirty="0"/>
              <a:t> (care </a:t>
            </a:r>
            <a:r>
              <a:rPr lang="en-US" sz="2000" b="1" dirty="0" err="1"/>
              <a:t>acționează</a:t>
            </a:r>
            <a:r>
              <a:rPr lang="en-US" sz="2000" b="1" dirty="0"/>
              <a:t> ca Discriminator) </a:t>
            </a:r>
            <a:r>
              <a:rPr lang="en-US" sz="2000" b="1" dirty="0" err="1"/>
              <a:t>implementează</a:t>
            </a:r>
            <a:r>
              <a:rPr lang="en-US" sz="2000" b="1" dirty="0"/>
              <a:t> </a:t>
            </a:r>
            <a:r>
              <a:rPr lang="en-US" sz="2000" b="1" dirty="0" err="1"/>
              <a:t>principiile</a:t>
            </a:r>
            <a:r>
              <a:rPr lang="en-US" sz="2000" b="1" dirty="0"/>
              <a:t> WGAN-GP.</a:t>
            </a:r>
          </a:p>
          <a:p>
            <a:r>
              <a:rPr lang="en-US" sz="2000" b="1" dirty="0" err="1"/>
              <a:t>Intrare</a:t>
            </a:r>
            <a:r>
              <a:rPr lang="en-US" sz="2000" b="1" dirty="0"/>
              <a:t>: </a:t>
            </a:r>
            <a:r>
              <a:rPr lang="en-US" sz="2000" b="1" dirty="0" err="1"/>
              <a:t>Primește</a:t>
            </a:r>
            <a:r>
              <a:rPr lang="en-US" sz="2000" b="1" dirty="0"/>
              <a:t> </a:t>
            </a:r>
            <a:r>
              <a:rPr lang="en-US" sz="2000" b="1" dirty="0" err="1"/>
              <a:t>tranzacția</a:t>
            </a:r>
            <a:r>
              <a:rPr lang="en-US" sz="2000" b="1" dirty="0"/>
              <a:t> </a:t>
            </a:r>
            <a:r>
              <a:rPr lang="en-US" sz="2000" b="1" dirty="0" err="1"/>
              <a:t>sintetică</a:t>
            </a:r>
            <a:r>
              <a:rPr lang="en-US" sz="2000" b="1" dirty="0"/>
              <a:t> </a:t>
            </a:r>
            <a:r>
              <a:rPr lang="en-US" sz="2000" b="1" dirty="0" err="1"/>
              <a:t>sau</a:t>
            </a:r>
            <a:r>
              <a:rPr lang="en-US" sz="2000" b="1" dirty="0"/>
              <a:t> </a:t>
            </a:r>
            <a:r>
              <a:rPr lang="en-US" sz="2000" b="1" dirty="0" err="1"/>
              <a:t>reală</a:t>
            </a:r>
            <a:r>
              <a:rPr lang="en-US" sz="2000" b="1" dirty="0"/>
              <a:t> </a:t>
            </a:r>
            <a:r>
              <a:rPr lang="en-US" sz="2000" b="1" dirty="0" err="1"/>
              <a:t>completă</a:t>
            </a:r>
            <a:r>
              <a:rPr lang="en-US" sz="2000" b="1" dirty="0"/>
              <a:t> (10 </a:t>
            </a:r>
            <a:r>
              <a:rPr lang="en-US" sz="2000" b="1" dirty="0" err="1"/>
              <a:t>Condiții</a:t>
            </a:r>
            <a:r>
              <a:rPr lang="en-US" sz="2000" b="1" dirty="0"/>
              <a:t> + 50 ID-</a:t>
            </a:r>
            <a:r>
              <a:rPr lang="en-US" sz="2000" b="1" dirty="0" err="1"/>
              <a:t>uri</a:t>
            </a:r>
            <a:r>
              <a:rPr lang="en-US" sz="2000" b="1" dirty="0"/>
              <a:t> </a:t>
            </a:r>
            <a:r>
              <a:rPr lang="en-US" sz="2000" b="1" dirty="0" err="1"/>
              <a:t>Produs</a:t>
            </a:r>
            <a:r>
              <a:rPr lang="en-US" sz="2000" b="1" dirty="0"/>
              <a:t> + 1 </a:t>
            </a:r>
            <a:r>
              <a:rPr lang="en-US" sz="2000" b="1" dirty="0" err="1"/>
              <a:t>Cantitate</a:t>
            </a:r>
            <a:r>
              <a:rPr lang="en-US" sz="2000" b="1" dirty="0"/>
              <a:t> = 61 </a:t>
            </a:r>
            <a:r>
              <a:rPr lang="en-US" sz="2000" b="1" dirty="0" err="1"/>
              <a:t>dimensiuni</a:t>
            </a:r>
            <a:r>
              <a:rPr lang="en-US" sz="2000" b="1" dirty="0"/>
              <a:t>).</a:t>
            </a:r>
          </a:p>
          <a:p>
            <a:r>
              <a:rPr lang="en-US" sz="2000" b="1" dirty="0" err="1"/>
              <a:t>Structură</a:t>
            </a:r>
            <a:r>
              <a:rPr lang="en-US" sz="2000" b="1" dirty="0"/>
              <a:t>: Trei </a:t>
            </a:r>
            <a:r>
              <a:rPr lang="en-US" sz="2000" b="1" dirty="0" err="1"/>
              <a:t>straturi</a:t>
            </a:r>
            <a:r>
              <a:rPr lang="en-US" sz="2000" b="1" dirty="0"/>
              <a:t> </a:t>
            </a:r>
            <a:r>
              <a:rPr lang="en-US" sz="2000" b="1" dirty="0" err="1"/>
              <a:t>liniare</a:t>
            </a:r>
            <a:r>
              <a:rPr lang="en-US" sz="2000" b="1" dirty="0"/>
              <a:t> dense separate de </a:t>
            </a:r>
            <a:r>
              <a:rPr lang="en-US" sz="2000" b="1" dirty="0" err="1"/>
              <a:t>funcția</a:t>
            </a:r>
            <a:r>
              <a:rPr lang="en-US" sz="2000" b="1" dirty="0"/>
              <a:t> de </a:t>
            </a:r>
            <a:r>
              <a:rPr lang="en-US" sz="2000" b="1" dirty="0" err="1"/>
              <a:t>activare</a:t>
            </a:r>
            <a:r>
              <a:rPr lang="en-US" sz="2000" b="1" dirty="0"/>
              <a:t> </a:t>
            </a:r>
            <a:r>
              <a:rPr lang="en-US" sz="2000" b="1" dirty="0" err="1"/>
              <a:t>LeakyReLU</a:t>
            </a:r>
            <a:r>
              <a:rPr lang="en-US" sz="2000" b="1" dirty="0"/>
              <a:t>(0.2).</a:t>
            </a:r>
          </a:p>
          <a:p>
            <a:r>
              <a:rPr lang="en-US" sz="2000" b="1" dirty="0" err="1"/>
              <a:t>Ieșire</a:t>
            </a:r>
            <a:r>
              <a:rPr lang="en-US" sz="2000" b="1" dirty="0"/>
              <a:t>: 1 </a:t>
            </a:r>
            <a:r>
              <a:rPr lang="en-US" sz="2000" b="1" dirty="0" err="1"/>
              <a:t>scor</a:t>
            </a:r>
            <a:r>
              <a:rPr lang="en-US" sz="2000" b="1" dirty="0"/>
              <a:t> scalar (</a:t>
            </a:r>
            <a:r>
              <a:rPr lang="en-US" sz="2000" b="1" dirty="0" err="1"/>
              <a:t>fără</a:t>
            </a:r>
            <a:r>
              <a:rPr lang="en-US" sz="2000" b="1" dirty="0"/>
              <a:t> Sigmoid final).</a:t>
            </a:r>
          </a:p>
          <a:p>
            <a:r>
              <a:rPr lang="en-US" sz="2000" b="1" dirty="0"/>
              <a:t>Rol: </a:t>
            </a:r>
            <a:r>
              <a:rPr lang="en-US" sz="2000" b="1" dirty="0" err="1"/>
              <a:t>Estimează</a:t>
            </a:r>
            <a:r>
              <a:rPr lang="en-US" sz="2000" b="1" dirty="0"/>
              <a:t> </a:t>
            </a:r>
            <a:r>
              <a:rPr lang="en-US" sz="2000" b="1" dirty="0" err="1"/>
              <a:t>scorul</a:t>
            </a:r>
            <a:r>
              <a:rPr lang="en-US" sz="2000" b="1" dirty="0"/>
              <a:t> de </a:t>
            </a:r>
            <a:r>
              <a:rPr lang="en-US" sz="2000" b="1" dirty="0" err="1"/>
              <a:t>realitate</a:t>
            </a:r>
            <a:r>
              <a:rPr lang="en-US" sz="2000" b="1" dirty="0"/>
              <a:t> (</a:t>
            </a:r>
            <a:r>
              <a:rPr lang="en-US" sz="2000" b="1" dirty="0" err="1"/>
              <a:t>distanța</a:t>
            </a:r>
            <a:r>
              <a:rPr lang="en-US" sz="2000" b="1" dirty="0"/>
              <a:t> Wasserstein) al </a:t>
            </a:r>
            <a:r>
              <a:rPr lang="en-US" sz="2000" b="1" dirty="0" err="1"/>
              <a:t>datelor</a:t>
            </a:r>
            <a:r>
              <a:rPr lang="en-US" sz="2000" b="1" dirty="0"/>
              <a:t>, </a:t>
            </a:r>
            <a:r>
              <a:rPr lang="en-US" sz="2000" b="1" dirty="0" err="1"/>
              <a:t>în</a:t>
            </a:r>
            <a:r>
              <a:rPr lang="en-US" sz="2000" b="1" dirty="0"/>
              <a:t> loc </a:t>
            </a:r>
            <a:r>
              <a:rPr lang="en-US" sz="2000" b="1" dirty="0" err="1"/>
              <a:t>să</a:t>
            </a:r>
            <a:r>
              <a:rPr lang="en-US" sz="2000" b="1" dirty="0"/>
              <a:t> </a:t>
            </a:r>
            <a:r>
              <a:rPr lang="en-US" sz="2000" b="1" dirty="0" err="1"/>
              <a:t>ofere</a:t>
            </a:r>
            <a:r>
              <a:rPr lang="en-US" sz="2000" b="1" dirty="0"/>
              <a:t> o </a:t>
            </a:r>
            <a:r>
              <a:rPr lang="en-US" sz="2000" b="1" dirty="0" err="1"/>
              <a:t>probabilitate</a:t>
            </a:r>
            <a:r>
              <a:rPr lang="en-US" sz="2000" b="1" dirty="0"/>
              <a:t> </a:t>
            </a:r>
            <a:r>
              <a:rPr lang="en-US" sz="2000" b="1" dirty="0" err="1"/>
              <a:t>binară</a:t>
            </a:r>
            <a:r>
              <a:rPr lang="en-US" sz="2000" b="1" dirty="0"/>
              <a:t> (Real/Fals).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299D5-8EED-3CB4-6766-EEF75582C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370" y="3892295"/>
            <a:ext cx="3214939" cy="24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9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A859-B6E9-51EA-2580-605D62A2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0145-AFC3-FADB-2655-00D3622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353567"/>
          </a:xfrm>
          <a:noFill/>
        </p:spPr>
        <p:txBody>
          <a:bodyPr/>
          <a:lstStyle/>
          <a:p>
            <a:r>
              <a:rPr lang="en-US" b="1" dirty="0" err="1"/>
              <a:t>Functia</a:t>
            </a:r>
            <a:r>
              <a:rPr lang="en-US" b="1" dirty="0"/>
              <a:t> de cost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B04C-8E12-348A-EEAB-3F1A5B3AC5E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996696"/>
            <a:ext cx="10214039" cy="54132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000" b="1" dirty="0" err="1"/>
              <a:t>Funcția</a:t>
            </a:r>
            <a:r>
              <a:rPr lang="en-US" sz="2000" b="1" dirty="0"/>
              <a:t> de cost a </a:t>
            </a:r>
            <a:r>
              <a:rPr lang="en-US" sz="2000" b="1" dirty="0" err="1"/>
              <a:t>Generatorului</a:t>
            </a:r>
            <a:r>
              <a:rPr lang="en-US" sz="2000" b="1" dirty="0"/>
              <a:t> (G Loss)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hibridă</a:t>
            </a:r>
            <a:r>
              <a:rPr lang="en-US" sz="2000" b="1" dirty="0"/>
              <a:t> </a:t>
            </a:r>
            <a:r>
              <a:rPr lang="en-US" sz="2000" b="1" dirty="0" err="1"/>
              <a:t>și</a:t>
            </a:r>
            <a:r>
              <a:rPr lang="en-US" sz="2000" b="1" dirty="0"/>
              <a:t> </a:t>
            </a:r>
            <a:r>
              <a:rPr lang="en-US" sz="2000" b="1" dirty="0" err="1"/>
              <a:t>urmărește</a:t>
            </a:r>
            <a:r>
              <a:rPr lang="en-US" sz="2000" b="1" dirty="0"/>
              <a:t> </a:t>
            </a:r>
            <a:r>
              <a:rPr lang="en-US" sz="2000" b="1" dirty="0" err="1"/>
              <a:t>trei</a:t>
            </a:r>
            <a:r>
              <a:rPr lang="en-US" sz="2000" b="1" dirty="0"/>
              <a:t> </a:t>
            </a:r>
            <a:r>
              <a:rPr lang="en-US" sz="2000" b="1" dirty="0" err="1"/>
              <a:t>obiective</a:t>
            </a:r>
            <a:r>
              <a:rPr lang="en-US" sz="2000" b="1" dirty="0"/>
              <a:t> </a:t>
            </a:r>
            <a:r>
              <a:rPr lang="en-US" sz="2000" b="1" dirty="0" err="1"/>
              <a:t>majore</a:t>
            </a:r>
            <a:r>
              <a:rPr lang="en-US" sz="2000" b="1" dirty="0"/>
              <a:t>, </a:t>
            </a:r>
            <a:r>
              <a:rPr lang="en-US" sz="2000" b="1" dirty="0" err="1"/>
              <a:t>având</a:t>
            </a:r>
            <a:r>
              <a:rPr lang="en-US" sz="2000" b="1" dirty="0"/>
              <a:t> o </a:t>
            </a:r>
            <a:r>
              <a:rPr lang="en-US" sz="2000" b="1" dirty="0" err="1"/>
              <a:t>pondere</a:t>
            </a:r>
            <a:r>
              <a:rPr lang="en-US" sz="2000" b="1" dirty="0"/>
              <a:t> </a:t>
            </a:r>
            <a:r>
              <a:rPr lang="en-US" sz="2000" b="1" dirty="0" err="1"/>
              <a:t>foarte</a:t>
            </a:r>
            <a:r>
              <a:rPr lang="en-US" sz="2000" b="1" dirty="0"/>
              <a:t> mare pe </a:t>
            </a:r>
            <a:r>
              <a:rPr lang="en-US" sz="2000" b="1" dirty="0" err="1"/>
              <a:t>acuratețea</a:t>
            </a:r>
            <a:r>
              <a:rPr lang="en-US" sz="2000" b="1" dirty="0"/>
              <a:t> </a:t>
            </a:r>
            <a:r>
              <a:rPr lang="en-US" sz="2000" b="1" dirty="0" err="1"/>
              <a:t>numerică</a:t>
            </a:r>
            <a:r>
              <a:rPr lang="en-US" sz="2000" b="1" dirty="0"/>
              <a:t>:</a:t>
            </a:r>
          </a:p>
          <a:p>
            <a:r>
              <a:rPr lang="en-US" sz="2000" b="1" dirty="0" err="1"/>
              <a:t>Componentele</a:t>
            </a:r>
            <a:r>
              <a:rPr lang="en-US" sz="2000" b="1" dirty="0"/>
              <a:t> </a:t>
            </a:r>
            <a:r>
              <a:rPr lang="en-US" sz="2000" b="1" dirty="0" err="1"/>
              <a:t>Cheie</a:t>
            </a:r>
            <a:r>
              <a:rPr lang="en-US" sz="2000" b="1" dirty="0"/>
              <a:t> (G Loss)</a:t>
            </a:r>
          </a:p>
          <a:p>
            <a:pPr marL="457200" indent="-457200">
              <a:buAutoNum type="arabicPeriod"/>
            </a:pPr>
            <a:r>
              <a:rPr lang="en-US" sz="2000" b="1" dirty="0"/>
              <a:t>Adversarial Loss (</a:t>
            </a:r>
            <a:r>
              <a:rPr lang="en-US" sz="2000" b="1" dirty="0" err="1"/>
              <a:t>loss_adv</a:t>
            </a:r>
            <a:r>
              <a:rPr lang="en-US" sz="2000" b="1" dirty="0"/>
              <a:t>): </a:t>
            </a:r>
            <a:r>
              <a:rPr lang="en-US" sz="2000" b="1" dirty="0" err="1"/>
              <a:t>Asigură</a:t>
            </a:r>
            <a:r>
              <a:rPr lang="en-US" sz="2000" b="1" dirty="0"/>
              <a:t> </a:t>
            </a:r>
            <a:r>
              <a:rPr lang="en-US" sz="2000" b="1" dirty="0" err="1"/>
              <a:t>realismul</a:t>
            </a:r>
            <a:r>
              <a:rPr lang="en-US" sz="2000" b="1" dirty="0"/>
              <a:t> general al </a:t>
            </a:r>
            <a:r>
              <a:rPr lang="en-US" sz="2000" b="1" dirty="0" err="1"/>
              <a:t>datelor</a:t>
            </a:r>
            <a:r>
              <a:rPr lang="en-US" sz="2000" b="1" dirty="0"/>
              <a:t>, </a:t>
            </a:r>
            <a:r>
              <a:rPr lang="en-US" sz="2000" b="1" dirty="0" err="1"/>
              <a:t>încercând</a:t>
            </a:r>
            <a:r>
              <a:rPr lang="en-US" sz="2000" b="1" dirty="0"/>
              <a:t> </a:t>
            </a:r>
            <a:r>
              <a:rPr lang="en-US" sz="2000" b="1" dirty="0" err="1"/>
              <a:t>să</a:t>
            </a:r>
            <a:r>
              <a:rPr lang="en-US" sz="2000" b="1" dirty="0"/>
              <a:t> </a:t>
            </a:r>
            <a:r>
              <a:rPr lang="en-US" sz="2000" b="1" dirty="0" err="1"/>
              <a:t>păcălească</a:t>
            </a:r>
            <a:r>
              <a:rPr lang="en-US" sz="2000" b="1" dirty="0"/>
              <a:t> </a:t>
            </a:r>
            <a:r>
              <a:rPr lang="en-US" sz="2000" b="1" dirty="0" err="1"/>
              <a:t>Criticul</a:t>
            </a:r>
            <a:r>
              <a:rPr lang="en-US" sz="2000" b="1" dirty="0"/>
              <a:t> (WGAN core).</a:t>
            </a:r>
          </a:p>
          <a:p>
            <a:pPr marL="457200" indent="-457200">
              <a:buAutoNum type="arabicPeriod"/>
            </a:pPr>
            <a:r>
              <a:rPr lang="en-US" sz="2000" b="1" dirty="0"/>
              <a:t>Feature Matching Loss (</a:t>
            </a:r>
            <a:r>
              <a:rPr lang="en-US" sz="2000" b="1" dirty="0" err="1"/>
              <a:t>loss_feature_match</a:t>
            </a:r>
            <a:r>
              <a:rPr lang="en-US" sz="2000" b="1" dirty="0"/>
              <a:t>): </a:t>
            </a:r>
            <a:r>
              <a:rPr lang="en-US" sz="2000" b="1" dirty="0" err="1"/>
              <a:t>Asigură</a:t>
            </a:r>
            <a:r>
              <a:rPr lang="en-US" sz="2000" b="1" dirty="0"/>
              <a:t> </a:t>
            </a:r>
            <a:r>
              <a:rPr lang="en-US" sz="2000" b="1" dirty="0" err="1"/>
              <a:t>diversitatea</a:t>
            </a:r>
            <a:r>
              <a:rPr lang="en-US" sz="2000" b="1" dirty="0"/>
              <a:t> </a:t>
            </a:r>
            <a:r>
              <a:rPr lang="en-US" sz="2000" b="1" dirty="0" err="1"/>
              <a:t>statistică</a:t>
            </a:r>
            <a:r>
              <a:rPr lang="en-US" sz="2000" b="1" dirty="0"/>
              <a:t> a </a:t>
            </a:r>
            <a:r>
              <a:rPr lang="en-US" sz="2000" b="1" dirty="0" err="1"/>
              <a:t>datelor</a:t>
            </a:r>
            <a:r>
              <a:rPr lang="en-US" sz="2000" b="1" dirty="0"/>
              <a:t> generate, </a:t>
            </a:r>
            <a:r>
              <a:rPr lang="en-US" sz="2000" b="1" dirty="0" err="1"/>
              <a:t>prevenind</a:t>
            </a:r>
            <a:r>
              <a:rPr lang="en-US" sz="2000" b="1" dirty="0"/>
              <a:t> </a:t>
            </a:r>
            <a:r>
              <a:rPr lang="en-US" sz="2000" b="1" dirty="0" err="1"/>
              <a:t>colapsul</a:t>
            </a:r>
            <a:r>
              <a:rPr lang="en-US" sz="2000" b="1" dirty="0"/>
              <a:t> modal. Are </a:t>
            </a:r>
            <a:r>
              <a:rPr lang="en-US" sz="2000" b="1" dirty="0" err="1"/>
              <a:t>pondere</a:t>
            </a:r>
            <a:r>
              <a:rPr lang="en-US" sz="2000" b="1" dirty="0"/>
              <a:t> 1.0.</a:t>
            </a:r>
          </a:p>
          <a:p>
            <a:pPr marL="457200" indent="-457200">
              <a:buAutoNum type="arabicPeriod"/>
            </a:pPr>
            <a:r>
              <a:rPr lang="en-US" sz="2000" b="1" dirty="0"/>
              <a:t>Quantity MSE Loss (</a:t>
            </a:r>
            <a:r>
              <a:rPr lang="en-US" sz="2000" b="1" dirty="0" err="1"/>
              <a:t>loss_quantity_mse</a:t>
            </a:r>
            <a:r>
              <a:rPr lang="en-US" sz="2000" b="1" dirty="0"/>
              <a:t>): Este </a:t>
            </a:r>
            <a:r>
              <a:rPr lang="en-US" sz="2000" b="1" dirty="0" err="1"/>
              <a:t>constrângerea</a:t>
            </a:r>
            <a:r>
              <a:rPr lang="en-US" sz="2000" b="1" dirty="0"/>
              <a:t> </a:t>
            </a:r>
            <a:r>
              <a:rPr lang="en-US" sz="2000" b="1" dirty="0" err="1"/>
              <a:t>critică</a:t>
            </a:r>
            <a:r>
              <a:rPr lang="en-US" sz="2000" b="1" dirty="0"/>
              <a:t>. </a:t>
            </a:r>
            <a:r>
              <a:rPr lang="en-US" sz="2000" b="1" dirty="0" err="1"/>
              <a:t>Forțează</a:t>
            </a:r>
            <a:r>
              <a:rPr lang="en-US" sz="2000" b="1" dirty="0"/>
              <a:t> </a:t>
            </a:r>
            <a:r>
              <a:rPr lang="en-US" sz="2000" b="1" dirty="0" err="1"/>
              <a:t>precizia</a:t>
            </a:r>
            <a:r>
              <a:rPr lang="en-US" sz="2000" b="1" dirty="0"/>
              <a:t> </a:t>
            </a:r>
            <a:r>
              <a:rPr lang="en-US" sz="2000" b="1" dirty="0" err="1"/>
              <a:t>numerică</a:t>
            </a:r>
            <a:r>
              <a:rPr lang="en-US" sz="2000" b="1" dirty="0"/>
              <a:t> pe </a:t>
            </a:r>
            <a:r>
              <a:rPr lang="en-US" sz="2000" b="1" dirty="0" err="1"/>
              <a:t>coloana</a:t>
            </a:r>
            <a:r>
              <a:rPr lang="en-US" sz="2000" b="1" dirty="0"/>
              <a:t> 'Quantity' (</a:t>
            </a:r>
            <a:r>
              <a:rPr lang="en-US" sz="2000" b="1" dirty="0" err="1"/>
              <a:t>compară</a:t>
            </a:r>
            <a:r>
              <a:rPr lang="en-US" sz="2000" b="1" dirty="0"/>
              <a:t> </a:t>
            </a:r>
            <a:r>
              <a:rPr lang="en-US" sz="2000" b="1" dirty="0" err="1"/>
              <a:t>valorile</a:t>
            </a:r>
            <a:r>
              <a:rPr lang="en-US" sz="2000" b="1" dirty="0"/>
              <a:t> </a:t>
            </a:r>
            <a:r>
              <a:rPr lang="en-US" sz="2000" b="1" dirty="0" err="1"/>
              <a:t>normalizate</a:t>
            </a:r>
            <a:r>
              <a:rPr lang="en-US" sz="2000" b="1" dirty="0"/>
              <a:t>). Are o </a:t>
            </a:r>
            <a:r>
              <a:rPr lang="en-US" sz="2000" b="1" dirty="0" err="1"/>
              <a:t>pondere</a:t>
            </a:r>
            <a:r>
              <a:rPr lang="en-US" sz="2000" b="1" dirty="0"/>
              <a:t> mare de 5.0, </a:t>
            </a:r>
            <a:r>
              <a:rPr lang="en-US" sz="2000" b="1" dirty="0" err="1"/>
              <a:t>indicând</a:t>
            </a:r>
            <a:r>
              <a:rPr lang="en-US" sz="2000" b="1" dirty="0"/>
              <a:t> </a:t>
            </a:r>
            <a:r>
              <a:rPr lang="en-US" sz="2000" b="1" dirty="0" err="1"/>
              <a:t>că</a:t>
            </a:r>
            <a:r>
              <a:rPr lang="en-US" sz="2000" b="1" dirty="0"/>
              <a:t> </a:t>
            </a:r>
            <a:r>
              <a:rPr lang="en-US" sz="2000" b="1" dirty="0" err="1"/>
              <a:t>acuratețea</a:t>
            </a:r>
            <a:r>
              <a:rPr lang="en-US" sz="2000" b="1" dirty="0"/>
              <a:t> </a:t>
            </a:r>
            <a:r>
              <a:rPr lang="en-US" sz="2000" b="1" dirty="0" err="1"/>
              <a:t>cantității</a:t>
            </a:r>
            <a:r>
              <a:rPr lang="en-US" sz="2000" b="1" dirty="0"/>
              <a:t> </a:t>
            </a:r>
            <a:r>
              <a:rPr lang="en-US" sz="2000" b="1" dirty="0" err="1"/>
              <a:t>este</a:t>
            </a:r>
            <a:r>
              <a:rPr lang="en-US" sz="2000" b="1" dirty="0"/>
              <a:t> </a:t>
            </a:r>
            <a:r>
              <a:rPr lang="en-US" sz="2000" b="1" dirty="0" err="1"/>
              <a:t>obiectivul</a:t>
            </a:r>
            <a:r>
              <a:rPr lang="en-US" sz="2000" b="1" dirty="0"/>
              <a:t> principal.</a:t>
            </a:r>
          </a:p>
          <a:p>
            <a:r>
              <a:rPr lang="en-US" sz="2000" b="1" dirty="0" err="1"/>
              <a:t>Criticul</a:t>
            </a:r>
            <a:r>
              <a:rPr lang="en-US" sz="2000" b="1" dirty="0"/>
              <a:t> (D Loss)</a:t>
            </a:r>
            <a:r>
              <a:rPr lang="en-US" sz="2000" b="1" dirty="0" err="1"/>
              <a:t>Funcția</a:t>
            </a:r>
            <a:r>
              <a:rPr lang="en-US" sz="2000" b="1" dirty="0"/>
              <a:t> de cost a </a:t>
            </a:r>
            <a:r>
              <a:rPr lang="en-US" sz="2000" b="1" dirty="0" err="1"/>
              <a:t>Criticului</a:t>
            </a:r>
            <a:r>
              <a:rPr lang="en-US" sz="2000" b="1" dirty="0"/>
              <a:t> (D Loss) </a:t>
            </a:r>
            <a:r>
              <a:rPr lang="en-US" sz="2000" b="1" dirty="0" err="1"/>
              <a:t>folosește</a:t>
            </a:r>
            <a:r>
              <a:rPr lang="en-US" sz="2000" b="1" dirty="0"/>
              <a:t> Loss-ul Wasserstein </a:t>
            </a:r>
            <a:r>
              <a:rPr lang="en-US" sz="2000" b="1" dirty="0" err="1"/>
              <a:t>și</a:t>
            </a:r>
            <a:r>
              <a:rPr lang="en-US" sz="2000" b="1" dirty="0"/>
              <a:t> include </a:t>
            </a:r>
            <a:r>
              <a:rPr lang="en-US" sz="2000" b="1" dirty="0" err="1"/>
              <a:t>termenul</a:t>
            </a:r>
            <a:r>
              <a:rPr lang="en-US" sz="2000" b="1" dirty="0"/>
              <a:t> de </a:t>
            </a:r>
            <a:r>
              <a:rPr lang="en-US" sz="2000" b="1" dirty="0" err="1"/>
              <a:t>Penalizare</a:t>
            </a:r>
            <a:r>
              <a:rPr lang="en-US" sz="2000" b="1" dirty="0"/>
              <a:t> pe Gradient (GP) </a:t>
            </a:r>
            <a:r>
              <a:rPr lang="en-US" sz="2000" b="1" dirty="0" err="1"/>
              <a:t>pentru</a:t>
            </a:r>
            <a:r>
              <a:rPr lang="en-US" sz="2000" b="1" dirty="0"/>
              <a:t> a </a:t>
            </a:r>
            <a:r>
              <a:rPr lang="en-US" sz="2000" b="1" dirty="0" err="1"/>
              <a:t>menține</a:t>
            </a:r>
            <a:r>
              <a:rPr lang="en-US" sz="2000" b="1" dirty="0"/>
              <a:t> </a:t>
            </a:r>
            <a:r>
              <a:rPr lang="en-US" sz="2000" b="1" dirty="0" err="1"/>
              <a:t>stabilitatea</a:t>
            </a:r>
            <a:r>
              <a:rPr lang="en-US" sz="2000" b="1" dirty="0"/>
              <a:t> </a:t>
            </a:r>
            <a:r>
              <a:rPr lang="en-US" sz="2000" b="1" dirty="0" err="1"/>
              <a:t>antrenamentului</a:t>
            </a:r>
            <a:r>
              <a:rPr lang="en-US" sz="2000" b="1" dirty="0"/>
              <a:t> (WGAN-GP).</a:t>
            </a:r>
          </a:p>
        </p:txBody>
      </p:sp>
    </p:spTree>
    <p:extLst>
      <p:ext uri="{BB962C8B-B14F-4D97-AF65-F5344CB8AC3E}">
        <p14:creationId xmlns:p14="http://schemas.microsoft.com/office/powerpoint/2010/main" val="426174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A021B-7C77-54CA-E5E6-A9CE2E98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0" y="541964"/>
            <a:ext cx="4768938" cy="38186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Cod sursa pentru functi de loss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C07D86B-194B-109B-B0EB-F02FBF4EC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685" y="1827081"/>
            <a:ext cx="6100915" cy="35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5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6FED-CA45-EEE9-64C6-F3C267DE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BCA5-B394-CC6E-EE5C-0D2B523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353567"/>
          </a:xfrm>
          <a:noFill/>
        </p:spPr>
        <p:txBody>
          <a:bodyPr/>
          <a:lstStyle/>
          <a:p>
            <a:r>
              <a:rPr lang="en-US" b="1" dirty="0" err="1"/>
              <a:t>Mecanisme</a:t>
            </a:r>
            <a:r>
              <a:rPr lang="en-US" b="1" dirty="0"/>
              <a:t> de </a:t>
            </a:r>
            <a:r>
              <a:rPr lang="en-US" b="1" dirty="0" err="1"/>
              <a:t>stabilitate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AD757-ADDA-98B7-000A-76C4CFC3DE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817" y="1755648"/>
            <a:ext cx="10214039" cy="398678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b="1" dirty="0"/>
              <a:t>Gradient Penalty (GP):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Aplicat</a:t>
            </a:r>
            <a:r>
              <a:rPr lang="en-US" sz="2400" b="1" dirty="0"/>
              <a:t> </a:t>
            </a:r>
            <a:r>
              <a:rPr lang="en-US" sz="2400" b="1" dirty="0" err="1"/>
              <a:t>Criticului</a:t>
            </a:r>
            <a:r>
              <a:rPr lang="en-US" sz="2400" b="1" dirty="0"/>
              <a:t> cu lambda = 5.0.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Stabilizează</a:t>
            </a:r>
            <a:r>
              <a:rPr lang="en-US" sz="2400" b="1" dirty="0"/>
              <a:t> </a:t>
            </a:r>
            <a:r>
              <a:rPr lang="en-US" sz="2400" b="1" dirty="0" err="1"/>
              <a:t>antrenamentul</a:t>
            </a:r>
            <a:r>
              <a:rPr lang="en-US" sz="2400" b="1" dirty="0"/>
              <a:t>, </a:t>
            </a:r>
            <a:r>
              <a:rPr lang="en-US" sz="2400" b="1" dirty="0" err="1"/>
              <a:t>impunând</a:t>
            </a:r>
            <a:r>
              <a:rPr lang="en-US" sz="2400" b="1" dirty="0"/>
              <a:t> o </a:t>
            </a:r>
            <a:r>
              <a:rPr lang="en-US" sz="2400" b="1" dirty="0" err="1"/>
              <a:t>constrângere</a:t>
            </a:r>
            <a:r>
              <a:rPr lang="en-US" sz="2400" b="1" dirty="0"/>
              <a:t> de 1-Lipschitz (</a:t>
            </a:r>
            <a:r>
              <a:rPr lang="en-US" sz="2400" b="1" dirty="0" err="1"/>
              <a:t>necesară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WGAN).</a:t>
            </a:r>
          </a:p>
          <a:p>
            <a:r>
              <a:rPr lang="en-US" sz="2400" b="1" dirty="0"/>
              <a:t>Learning Rate (LR) </a:t>
            </a:r>
            <a:r>
              <a:rPr lang="en-US" sz="2400" b="1" dirty="0" err="1"/>
              <a:t>Scăzut</a:t>
            </a:r>
            <a:r>
              <a:rPr lang="en-US" sz="2400" b="1" dirty="0"/>
              <a:t>: </a:t>
            </a:r>
            <a:r>
              <a:rPr lang="en-US" sz="2400" b="1" dirty="0" err="1"/>
              <a:t>Ambele</a:t>
            </a:r>
            <a:r>
              <a:rPr lang="en-US" sz="2400" b="1" dirty="0"/>
              <a:t> </a:t>
            </a:r>
            <a:r>
              <a:rPr lang="en-US" sz="2400" b="1" dirty="0" err="1"/>
              <a:t>rețele</a:t>
            </a:r>
            <a:r>
              <a:rPr lang="en-US" sz="2400" b="1" dirty="0"/>
              <a:t> </a:t>
            </a:r>
            <a:r>
              <a:rPr lang="en-US" sz="2400" b="1" dirty="0" err="1"/>
              <a:t>folosesc</a:t>
            </a:r>
            <a:r>
              <a:rPr lang="en-US" sz="2400" b="1" dirty="0"/>
              <a:t> un LR </a:t>
            </a:r>
            <a:r>
              <a:rPr lang="en-US" sz="2400" b="1" dirty="0" err="1"/>
              <a:t>foarte</a:t>
            </a:r>
            <a:r>
              <a:rPr lang="en-US" sz="2400" b="1" dirty="0"/>
              <a:t> </a:t>
            </a:r>
            <a:r>
              <a:rPr lang="en-US" sz="2400" b="1" dirty="0" err="1"/>
              <a:t>scăzut</a:t>
            </a:r>
            <a:r>
              <a:rPr lang="en-US" sz="2400" b="1" dirty="0"/>
              <a:t> (5e-6), </a:t>
            </a:r>
            <a:r>
              <a:rPr lang="en-US" sz="2400" b="1" dirty="0" err="1"/>
              <a:t>ceea</a:t>
            </a:r>
            <a:r>
              <a:rPr lang="en-US" sz="2400" b="1" dirty="0"/>
              <a:t> </a:t>
            </a:r>
            <a:r>
              <a:rPr lang="en-US" sz="2400" b="1" dirty="0" err="1"/>
              <a:t>ce</a:t>
            </a:r>
            <a:r>
              <a:rPr lang="en-US" sz="2400" b="1" dirty="0"/>
              <a:t> </a:t>
            </a:r>
            <a:r>
              <a:rPr lang="en-US" sz="2400" b="1" dirty="0" err="1"/>
              <a:t>este</a:t>
            </a:r>
            <a:r>
              <a:rPr lang="en-US" sz="2400" b="1" dirty="0"/>
              <a:t> o </a:t>
            </a:r>
            <a:r>
              <a:rPr lang="en-US" sz="2400" b="1" dirty="0" err="1"/>
              <a:t>tehnică</a:t>
            </a:r>
            <a:r>
              <a:rPr lang="en-US" sz="2400" b="1" dirty="0"/>
              <a:t> </a:t>
            </a:r>
            <a:r>
              <a:rPr lang="en-US" sz="2400" b="1" dirty="0" err="1"/>
              <a:t>comună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WGAN-</a:t>
            </a:r>
            <a:r>
              <a:rPr lang="en-US" sz="2400" b="1" dirty="0" err="1"/>
              <a:t>uri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</a:t>
            </a:r>
            <a:r>
              <a:rPr lang="en-US" sz="2400" b="1" dirty="0" err="1"/>
              <a:t>asigura</a:t>
            </a:r>
            <a:r>
              <a:rPr lang="en-US" sz="2400" b="1" dirty="0"/>
              <a:t> o </a:t>
            </a:r>
            <a:r>
              <a:rPr lang="en-US" sz="2400" b="1" dirty="0" err="1"/>
              <a:t>convergență</a:t>
            </a:r>
            <a:r>
              <a:rPr lang="en-US" sz="2400" b="1" dirty="0"/>
              <a:t> </a:t>
            </a:r>
            <a:r>
              <a:rPr lang="en-US" sz="2400" b="1" dirty="0" err="1"/>
              <a:t>lentă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stabilă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7003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ED80-D089-2CB4-4686-40194E73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561D-C762-2BEA-F471-8A6C1D67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737615"/>
          </a:xfrm>
          <a:noFill/>
        </p:spPr>
        <p:txBody>
          <a:bodyPr/>
          <a:lstStyle/>
          <a:p>
            <a:pPr lvl="0"/>
            <a:r>
              <a:rPr lang="en-US" dirty="0" err="1"/>
              <a:t>Algoritm</a:t>
            </a:r>
            <a:r>
              <a:rPr lang="en-US" dirty="0"/>
              <a:t> de </a:t>
            </a:r>
            <a:r>
              <a:rPr lang="en-US" dirty="0" err="1"/>
              <a:t>generare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antrenat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6E602-2345-0F5F-5D27-5752C1FE536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817" y="1755648"/>
            <a:ext cx="10214039" cy="3986784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n-US" sz="2400" b="1" dirty="0" err="1"/>
              <a:t>Folosit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genera </a:t>
            </a:r>
            <a:r>
              <a:rPr lang="en-US" sz="2400" b="1" dirty="0" err="1"/>
              <a:t>si</a:t>
            </a:r>
            <a:r>
              <a:rPr lang="en-US" sz="2400" b="1" dirty="0"/>
              <a:t> </a:t>
            </a:r>
            <a:r>
              <a:rPr lang="en-US" sz="2400" b="1" dirty="0" err="1"/>
              <a:t>verifica</a:t>
            </a:r>
            <a:r>
              <a:rPr lang="en-US" sz="2400" b="1" dirty="0"/>
              <a:t> </a:t>
            </a:r>
            <a:r>
              <a:rPr lang="en-US" sz="2400" b="1" dirty="0" err="1"/>
              <a:t>datele</a:t>
            </a:r>
            <a:r>
              <a:rPr lang="en-US" sz="2400" b="1" dirty="0"/>
              <a:t> </a:t>
            </a:r>
            <a:r>
              <a:rPr lang="en-US" sz="2400" b="1" dirty="0" err="1"/>
              <a:t>inainte</a:t>
            </a:r>
            <a:r>
              <a:rPr lang="en-US" sz="2400" b="1" dirty="0"/>
              <a:t> de </a:t>
            </a:r>
            <a:r>
              <a:rPr lang="en-US" sz="2400" b="1" dirty="0" err="1"/>
              <a:t>integrarea</a:t>
            </a:r>
            <a:r>
              <a:rPr lang="en-US" sz="2400" b="1" dirty="0"/>
              <a:t> cu back-</a:t>
            </a:r>
            <a:r>
              <a:rPr lang="en-US" sz="2400" b="1" dirty="0" err="1"/>
              <a:t>endul</a:t>
            </a: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Încărcare</a:t>
            </a:r>
            <a:r>
              <a:rPr lang="en-US" sz="2400" b="1" dirty="0"/>
              <a:t>: </a:t>
            </a:r>
            <a:r>
              <a:rPr lang="en-US" sz="2400" b="1" dirty="0" err="1"/>
              <a:t>Încarcă</a:t>
            </a:r>
            <a:r>
              <a:rPr lang="en-US" sz="2400" b="1" dirty="0"/>
              <a:t> </a:t>
            </a:r>
            <a:r>
              <a:rPr lang="en-US" sz="2400" b="1" dirty="0" err="1"/>
              <a:t>modelul</a:t>
            </a:r>
            <a:r>
              <a:rPr lang="en-US" sz="2400" b="1" dirty="0"/>
              <a:t> Generator (G)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îl</a:t>
            </a:r>
            <a:r>
              <a:rPr lang="en-US" sz="2400" b="1" dirty="0"/>
              <a:t> </a:t>
            </a:r>
            <a:r>
              <a:rPr lang="en-US" sz="2400" b="1" dirty="0" err="1"/>
              <a:t>trece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modul</a:t>
            </a:r>
            <a:r>
              <a:rPr lang="en-US" sz="2400" b="1" dirty="0"/>
              <a:t> de </a:t>
            </a:r>
            <a:r>
              <a:rPr lang="en-US" sz="2400" b="1" dirty="0" err="1"/>
              <a:t>evaluare</a:t>
            </a:r>
            <a:r>
              <a:rPr lang="en-US" sz="2400" b="1" dirty="0"/>
              <a:t> (</a:t>
            </a:r>
            <a:r>
              <a:rPr lang="en-US" sz="2400" b="1" dirty="0" err="1"/>
              <a:t>G.eval</a:t>
            </a:r>
            <a:r>
              <a:rPr lang="en-US" sz="2400" b="1" dirty="0"/>
              <a:t>()).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Generare</a:t>
            </a:r>
            <a:r>
              <a:rPr lang="en-US" sz="2400" b="1" dirty="0"/>
              <a:t>: </a:t>
            </a:r>
            <a:r>
              <a:rPr lang="en-US" sz="2400" b="1" dirty="0" err="1"/>
              <a:t>Generează</a:t>
            </a:r>
            <a:r>
              <a:rPr lang="en-US" sz="2400" b="1" dirty="0"/>
              <a:t> 10.000 de </a:t>
            </a:r>
            <a:r>
              <a:rPr lang="en-US" sz="2400" b="1" dirty="0" err="1"/>
              <a:t>mostre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loturi</a:t>
            </a:r>
            <a:r>
              <a:rPr lang="en-US" sz="2400" b="1" dirty="0"/>
              <a:t> </a:t>
            </a:r>
            <a:r>
              <a:rPr lang="en-US" sz="2400" b="1" dirty="0" err="1"/>
              <a:t>mici</a:t>
            </a:r>
            <a:r>
              <a:rPr lang="en-US" sz="2400" b="1" dirty="0"/>
              <a:t> (batch-</a:t>
            </a:r>
            <a:r>
              <a:rPr lang="en-US" sz="2400" b="1" dirty="0" err="1"/>
              <a:t>uri</a:t>
            </a:r>
            <a:r>
              <a:rPr lang="en-US" sz="2400" b="1" dirty="0"/>
              <a:t>), </a:t>
            </a:r>
            <a:r>
              <a:rPr lang="en-US" sz="2400" b="1" dirty="0" err="1"/>
              <a:t>furnizând</a:t>
            </a:r>
            <a:r>
              <a:rPr lang="en-US" sz="2400" b="1" dirty="0"/>
              <a:t> </a:t>
            </a:r>
            <a:r>
              <a:rPr lang="en-US" sz="2400" b="1" dirty="0" err="1"/>
              <a:t>Generatorului</a:t>
            </a:r>
            <a:r>
              <a:rPr lang="en-US" sz="2400" b="1" dirty="0"/>
              <a:t> </a:t>
            </a:r>
            <a:r>
              <a:rPr lang="en-US" sz="2400" b="1" dirty="0" err="1"/>
              <a:t>vectori</a:t>
            </a:r>
            <a:r>
              <a:rPr lang="en-US" sz="2400" b="1" dirty="0"/>
              <a:t> de </a:t>
            </a:r>
            <a:r>
              <a:rPr lang="en-US" sz="2400" b="1" dirty="0" err="1"/>
              <a:t>zgomot</a:t>
            </a:r>
            <a:r>
              <a:rPr lang="en-US" sz="2400" b="1" dirty="0"/>
              <a:t> </a:t>
            </a:r>
            <a:r>
              <a:rPr lang="en-US" sz="2400" b="1" dirty="0" err="1"/>
              <a:t>aleatoriu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vectori</a:t>
            </a:r>
            <a:r>
              <a:rPr lang="en-US" sz="2400" b="1" dirty="0"/>
              <a:t> de </a:t>
            </a:r>
            <a:r>
              <a:rPr lang="en-US" sz="2400" b="1" dirty="0" err="1"/>
              <a:t>condiție</a:t>
            </a:r>
            <a:r>
              <a:rPr lang="en-US" sz="2400" b="1" dirty="0"/>
              <a:t> </a:t>
            </a:r>
            <a:r>
              <a:rPr lang="en-US" sz="2400" b="1" dirty="0" err="1"/>
              <a:t>aleatorie</a:t>
            </a:r>
            <a:r>
              <a:rPr lang="en-US" sz="2400" b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Post-Procesare:Produs</a:t>
            </a:r>
            <a:r>
              <a:rPr lang="en-US" sz="2400" b="1" dirty="0"/>
              <a:t> (P): </a:t>
            </a:r>
            <a:r>
              <a:rPr lang="en-US" sz="2400" b="1" dirty="0" err="1"/>
              <a:t>Converteste</a:t>
            </a:r>
            <a:r>
              <a:rPr lang="en-US" sz="2400" b="1" dirty="0"/>
              <a:t> logit-urile de </a:t>
            </a:r>
            <a:r>
              <a:rPr lang="en-US" sz="2400" b="1" dirty="0" err="1"/>
              <a:t>Produs</a:t>
            </a:r>
            <a:r>
              <a:rPr lang="en-US" sz="2400" b="1" dirty="0"/>
              <a:t> ID (</a:t>
            </a:r>
            <a:r>
              <a:rPr lang="en-US" sz="2400" b="1" dirty="0" err="1"/>
              <a:t>secțiunea</a:t>
            </a:r>
            <a:r>
              <a:rPr lang="en-US" sz="2400" b="1" dirty="0"/>
              <a:t> din </a:t>
            </a:r>
            <a:r>
              <a:rPr lang="en-US" sz="2400" b="1" dirty="0" err="1"/>
              <a:t>mijloc</a:t>
            </a:r>
            <a:r>
              <a:rPr lang="en-US" sz="2400" b="1" dirty="0"/>
              <a:t> a </a:t>
            </a:r>
            <a:r>
              <a:rPr lang="en-US" sz="2400" b="1" dirty="0" err="1"/>
              <a:t>ieșirii</a:t>
            </a:r>
            <a:r>
              <a:rPr lang="en-US" sz="2400" b="1" dirty="0"/>
              <a:t>)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vectori</a:t>
            </a:r>
            <a:r>
              <a:rPr lang="en-US" sz="2400" b="1" dirty="0"/>
              <a:t> one-hot </a:t>
            </a:r>
            <a:r>
              <a:rPr lang="en-US" sz="2400" b="1" dirty="0" err="1"/>
              <a:t>curați</a:t>
            </a:r>
            <a:r>
              <a:rPr lang="en-US" sz="2400" b="1" dirty="0"/>
              <a:t> </a:t>
            </a:r>
            <a:r>
              <a:rPr lang="en-US" sz="2400" b="1" dirty="0" err="1"/>
              <a:t>folosind</a:t>
            </a:r>
            <a:r>
              <a:rPr lang="en-US" sz="2400" b="1" dirty="0"/>
              <a:t> Gumbel-Softmax cu </a:t>
            </a:r>
            <a:r>
              <a:rPr lang="en-US" sz="2400" b="1" dirty="0" err="1"/>
              <a:t>temperatură</a:t>
            </a:r>
            <a:r>
              <a:rPr lang="en-US" sz="2400" b="1" dirty="0"/>
              <a:t> </a:t>
            </a:r>
            <a:r>
              <a:rPr lang="en-US" sz="2400" b="1" dirty="0" err="1"/>
              <a:t>foarte</a:t>
            </a:r>
            <a:r>
              <a:rPr lang="en-US" sz="2400" b="1" dirty="0"/>
              <a:t> </a:t>
            </a:r>
            <a:r>
              <a:rPr lang="en-US" sz="2400" b="1" dirty="0" err="1"/>
              <a:t>mică</a:t>
            </a:r>
            <a:r>
              <a:rPr lang="en-US" sz="2400" b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Cantitate</a:t>
            </a:r>
            <a:r>
              <a:rPr lang="en-US" sz="2400" b="1" dirty="0"/>
              <a:t> (Q): </a:t>
            </a:r>
            <a:r>
              <a:rPr lang="en-US" sz="2400" b="1" dirty="0" err="1"/>
              <a:t>Preia</a:t>
            </a:r>
            <a:r>
              <a:rPr lang="en-US" sz="2400" b="1" dirty="0"/>
              <a:t> </a:t>
            </a:r>
            <a:r>
              <a:rPr lang="en-US" sz="2400" b="1" dirty="0" err="1"/>
              <a:t>valoarea</a:t>
            </a:r>
            <a:r>
              <a:rPr lang="en-US" sz="2400" b="1" dirty="0"/>
              <a:t> </a:t>
            </a:r>
            <a:r>
              <a:rPr lang="en-US" sz="2400" b="1" dirty="0" err="1"/>
              <a:t>normalizată</a:t>
            </a:r>
            <a:r>
              <a:rPr lang="en-US" sz="2400" b="1" dirty="0"/>
              <a:t> a </a:t>
            </a:r>
            <a:r>
              <a:rPr lang="en-US" sz="2400" b="1" dirty="0" err="1"/>
              <a:t>Cantității</a:t>
            </a:r>
            <a:r>
              <a:rPr lang="en-US" sz="2400" b="1" dirty="0"/>
              <a:t> (ultima </a:t>
            </a:r>
            <a:r>
              <a:rPr lang="en-US" sz="2400" b="1" dirty="0" err="1"/>
              <a:t>coloană</a:t>
            </a:r>
            <a:r>
              <a:rPr lang="en-US" sz="2400" b="1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Denormalizare</a:t>
            </a:r>
            <a:r>
              <a:rPr lang="en-US" sz="2400" b="1" dirty="0"/>
              <a:t> </a:t>
            </a:r>
            <a:r>
              <a:rPr lang="en-US" sz="2400" b="1" dirty="0" err="1"/>
              <a:t>Crucială</a:t>
            </a:r>
            <a:r>
              <a:rPr lang="en-US" sz="2400" b="1" dirty="0"/>
              <a:t>: </a:t>
            </a:r>
            <a:r>
              <a:rPr lang="en-US" sz="2400" b="1" dirty="0" err="1"/>
              <a:t>Convertește</a:t>
            </a:r>
            <a:r>
              <a:rPr lang="en-US" sz="2400" b="1" dirty="0"/>
              <a:t> </a:t>
            </a:r>
            <a:r>
              <a:rPr lang="en-US" sz="2400" b="1" dirty="0" err="1"/>
              <a:t>Cantitatea</a:t>
            </a:r>
            <a:r>
              <a:rPr lang="en-US" sz="2400" b="1" dirty="0"/>
              <a:t> din </a:t>
            </a:r>
            <a:r>
              <a:rPr lang="en-US" sz="2400" b="1" dirty="0" err="1"/>
              <a:t>intervalul</a:t>
            </a:r>
            <a:r>
              <a:rPr lang="en-US" sz="2400" b="1" dirty="0"/>
              <a:t> </a:t>
            </a:r>
            <a:r>
              <a:rPr lang="en-US" sz="2400" b="1" dirty="0" err="1"/>
              <a:t>normalizat</a:t>
            </a:r>
            <a:r>
              <a:rPr lang="en-US" sz="2400" b="1" dirty="0"/>
              <a:t> 0.0, 1.0] (</a:t>
            </a:r>
            <a:r>
              <a:rPr lang="en-US" sz="2400" b="1" dirty="0" err="1"/>
              <a:t>generat</a:t>
            </a:r>
            <a:r>
              <a:rPr lang="en-US" sz="2400" b="1" dirty="0"/>
              <a:t> de model) </a:t>
            </a:r>
            <a:r>
              <a:rPr lang="en-US" sz="2400" b="1" dirty="0" err="1"/>
              <a:t>înapoi</a:t>
            </a:r>
            <a:r>
              <a:rPr lang="en-US" sz="2400" b="1" dirty="0"/>
              <a:t> la scala </a:t>
            </a:r>
            <a:r>
              <a:rPr lang="en-US" sz="2400" b="1" dirty="0" err="1"/>
              <a:t>reală</a:t>
            </a:r>
            <a:r>
              <a:rPr lang="en-US" sz="2400" b="1" dirty="0"/>
              <a:t> (</a:t>
            </a:r>
            <a:r>
              <a:rPr lang="en-US" sz="2400" b="1" dirty="0" err="1"/>
              <a:t>între</a:t>
            </a:r>
            <a:r>
              <a:rPr lang="en-US" sz="2400" b="1" dirty="0"/>
              <a:t> 1 </a:t>
            </a:r>
            <a:r>
              <a:rPr lang="en-US" sz="2400" b="1" dirty="0" err="1"/>
              <a:t>și</a:t>
            </a:r>
            <a:r>
              <a:rPr lang="en-US" sz="2400" b="1" dirty="0"/>
              <a:t> 50), </a:t>
            </a:r>
            <a:r>
              <a:rPr lang="en-US" sz="2400" b="1" dirty="0" err="1"/>
              <a:t>folosind</a:t>
            </a:r>
            <a:r>
              <a:rPr lang="en-US" sz="2400" b="1" dirty="0"/>
              <a:t> </a:t>
            </a:r>
            <a:r>
              <a:rPr lang="en-US" sz="2400" b="1" dirty="0" err="1"/>
              <a:t>constanta</a:t>
            </a:r>
            <a:r>
              <a:rPr lang="en-US" sz="2400" b="1" dirty="0"/>
              <a:t> QUANTITY_MAX.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Salvare</a:t>
            </a:r>
            <a:r>
              <a:rPr lang="en-US" sz="2400" b="1" dirty="0"/>
              <a:t>: </a:t>
            </a:r>
            <a:r>
              <a:rPr lang="en-US" sz="2400" b="1" dirty="0" err="1"/>
              <a:t>Salvează</a:t>
            </a:r>
            <a:r>
              <a:rPr lang="en-US" sz="2400" b="1" dirty="0"/>
              <a:t> </a:t>
            </a:r>
            <a:r>
              <a:rPr lang="en-US" sz="2400" b="1" dirty="0" err="1"/>
              <a:t>setul</a:t>
            </a:r>
            <a:r>
              <a:rPr lang="en-US" sz="2400" b="1" dirty="0"/>
              <a:t> final de date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fișierul</a:t>
            </a:r>
            <a:r>
              <a:rPr lang="en-US" sz="2400" b="1" dirty="0"/>
              <a:t> synthetic_ecommerce_data_final.csv (10.000 de </a:t>
            </a:r>
            <a:r>
              <a:rPr lang="en-US" sz="2400" b="1" dirty="0" err="1"/>
              <a:t>rânduri</a:t>
            </a:r>
            <a:r>
              <a:rPr lang="en-US" sz="2400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2437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7E64-D699-8D3E-853B-36E16400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5DAB3-7DD8-FC6D-3D86-AFACFCFC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737615"/>
          </a:xfrm>
          <a:noFill/>
        </p:spPr>
        <p:txBody>
          <a:bodyPr/>
          <a:lstStyle/>
          <a:p>
            <a:pPr lvl="0"/>
            <a:r>
              <a:rPr lang="en-US" dirty="0"/>
              <a:t>Api care </a:t>
            </a:r>
            <a:r>
              <a:rPr lang="en-US" dirty="0" err="1"/>
              <a:t>expune</a:t>
            </a:r>
            <a:r>
              <a:rPr lang="en-US" dirty="0"/>
              <a:t> </a:t>
            </a:r>
            <a:r>
              <a:rPr lang="en-US" dirty="0" err="1"/>
              <a:t>modelul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BC874-A457-AA7B-93CC-31790D78362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817" y="1755648"/>
            <a:ext cx="10214039" cy="3986784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Încărcarea</a:t>
            </a:r>
            <a:r>
              <a:rPr lang="en-US" sz="2400" b="1" dirty="0"/>
              <a:t> </a:t>
            </a:r>
            <a:r>
              <a:rPr lang="en-US" sz="2400" b="1" dirty="0" err="1"/>
              <a:t>Modelului</a:t>
            </a:r>
            <a:r>
              <a:rPr lang="en-US" sz="2400" b="1" dirty="0"/>
              <a:t>: La </a:t>
            </a:r>
            <a:r>
              <a:rPr lang="en-US" sz="2400" b="1" dirty="0" err="1"/>
              <a:t>pornirea</a:t>
            </a:r>
            <a:r>
              <a:rPr lang="en-US" sz="2400" b="1" dirty="0"/>
              <a:t> </a:t>
            </a:r>
            <a:r>
              <a:rPr lang="en-US" sz="2400" b="1" dirty="0" err="1"/>
              <a:t>serverului</a:t>
            </a:r>
            <a:r>
              <a:rPr lang="en-US" sz="2400" b="1" dirty="0"/>
              <a:t>, </a:t>
            </a:r>
            <a:r>
              <a:rPr lang="en-US" sz="2400" b="1" dirty="0" err="1"/>
              <a:t>codul</a:t>
            </a:r>
            <a:r>
              <a:rPr lang="en-US" sz="2400" b="1" dirty="0"/>
              <a:t> </a:t>
            </a:r>
            <a:r>
              <a:rPr lang="en-US" sz="2400" b="1" dirty="0" err="1"/>
              <a:t>încarcă</a:t>
            </a:r>
            <a:r>
              <a:rPr lang="en-US" sz="2400" b="1" dirty="0"/>
              <a:t> </a:t>
            </a:r>
            <a:r>
              <a:rPr lang="en-US" sz="2400" b="1" dirty="0" err="1"/>
              <a:t>Generatorul</a:t>
            </a:r>
            <a:r>
              <a:rPr lang="en-US" sz="2400" b="1" dirty="0"/>
              <a:t> (</a:t>
            </a:r>
            <a:r>
              <a:rPr lang="en-US" sz="2400" b="1" dirty="0" err="1"/>
              <a:t>generator_constrained_stable.pth</a:t>
            </a:r>
            <a:r>
              <a:rPr lang="en-US" sz="2400" b="1" dirty="0"/>
              <a:t>)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memorie</a:t>
            </a:r>
            <a:r>
              <a:rPr lang="en-US" sz="2400" b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Ruta /generate (POST):</a:t>
            </a:r>
          </a:p>
          <a:p>
            <a:pPr marL="914400" lvl="2" indent="-457200"/>
            <a:r>
              <a:rPr lang="en-US" sz="2400" b="1" dirty="0" err="1"/>
              <a:t>Când</a:t>
            </a:r>
            <a:r>
              <a:rPr lang="en-US" sz="2400" b="1" dirty="0"/>
              <a:t> un alt program (cum </a:t>
            </a:r>
            <a:r>
              <a:rPr lang="en-US" sz="2400" b="1" dirty="0" err="1"/>
              <a:t>ar</a:t>
            </a:r>
            <a:r>
              <a:rPr lang="en-US" sz="2400" b="1" dirty="0"/>
              <a:t> fi o </a:t>
            </a:r>
            <a:r>
              <a:rPr lang="en-US" sz="2400" b="1" dirty="0" err="1"/>
              <a:t>aplicație</a:t>
            </a:r>
            <a:r>
              <a:rPr lang="en-US" sz="2400" b="1" dirty="0"/>
              <a:t> Java) </a:t>
            </a:r>
            <a:r>
              <a:rPr lang="en-US" sz="2400" b="1" dirty="0" err="1"/>
              <a:t>trimite</a:t>
            </a:r>
            <a:r>
              <a:rPr lang="en-US" sz="2400" b="1" dirty="0"/>
              <a:t> o </a:t>
            </a:r>
            <a:r>
              <a:rPr lang="en-US" sz="2400" b="1" dirty="0" err="1"/>
              <a:t>cerere</a:t>
            </a:r>
            <a:r>
              <a:rPr lang="en-US" sz="2400" b="1" dirty="0"/>
              <a:t> la </a:t>
            </a:r>
            <a:r>
              <a:rPr lang="en-US" sz="2400" b="1" dirty="0" err="1"/>
              <a:t>această</a:t>
            </a:r>
            <a:r>
              <a:rPr lang="en-US" sz="2400" b="1" dirty="0"/>
              <a:t> </a:t>
            </a:r>
            <a:r>
              <a:rPr lang="en-US" sz="2400" b="1" dirty="0" err="1"/>
              <a:t>adresă</a:t>
            </a:r>
            <a:r>
              <a:rPr lang="en-US" sz="2400" b="1" dirty="0"/>
              <a:t>, API-ul </a:t>
            </a:r>
            <a:r>
              <a:rPr lang="en-US" sz="2400" b="1" dirty="0" err="1"/>
              <a:t>preia</a:t>
            </a:r>
            <a:r>
              <a:rPr lang="en-US" sz="2400" b="1" dirty="0"/>
              <a:t> </a:t>
            </a:r>
            <a:r>
              <a:rPr lang="en-US" sz="2400" b="1" dirty="0" err="1"/>
              <a:t>cererea</a:t>
            </a:r>
            <a:r>
              <a:rPr lang="en-US" sz="2400" b="1" dirty="0"/>
              <a:t>.</a:t>
            </a:r>
          </a:p>
          <a:p>
            <a:pPr marL="914400" lvl="2" indent="-457200"/>
            <a:r>
              <a:rPr lang="en-US" sz="2400" b="1" dirty="0" err="1"/>
              <a:t>Rulează</a:t>
            </a:r>
            <a:r>
              <a:rPr lang="en-US" sz="2400" b="1" dirty="0"/>
              <a:t> </a:t>
            </a:r>
            <a:r>
              <a:rPr lang="en-US" sz="2400" b="1" dirty="0" err="1"/>
              <a:t>Generatorul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</a:t>
            </a:r>
            <a:r>
              <a:rPr lang="en-US" sz="2400" b="1" dirty="0" err="1"/>
              <a:t>crea</a:t>
            </a:r>
            <a:r>
              <a:rPr lang="en-US" sz="2400" b="1" dirty="0"/>
              <a:t> date </a:t>
            </a:r>
            <a:r>
              <a:rPr lang="en-US" sz="2400" b="1" dirty="0" err="1"/>
              <a:t>sintetice</a:t>
            </a:r>
            <a:r>
              <a:rPr lang="en-US" sz="2400" b="1" dirty="0"/>
              <a:t>.</a:t>
            </a:r>
          </a:p>
          <a:p>
            <a:pPr marL="914400" lvl="2" indent="-457200"/>
            <a:r>
              <a:rPr lang="en-US" sz="2400" b="1" dirty="0" err="1"/>
              <a:t>Aplică</a:t>
            </a:r>
            <a:r>
              <a:rPr lang="en-US" sz="2400" b="1" dirty="0"/>
              <a:t> de-</a:t>
            </a:r>
            <a:r>
              <a:rPr lang="en-US" sz="2400" b="1" dirty="0" err="1"/>
              <a:t>normalizarea</a:t>
            </a:r>
            <a:r>
              <a:rPr lang="en-US" sz="2400" b="1" dirty="0"/>
              <a:t> </a:t>
            </a:r>
            <a:r>
              <a:rPr lang="en-US" sz="2400" b="1" dirty="0" err="1"/>
              <a:t>valorilor</a:t>
            </a:r>
            <a:r>
              <a:rPr lang="en-US" sz="2400" b="1" dirty="0"/>
              <a:t> de </a:t>
            </a:r>
            <a:r>
              <a:rPr lang="en-US" sz="2400" b="1" dirty="0" err="1"/>
              <a:t>Cantitate</a:t>
            </a:r>
            <a:r>
              <a:rPr lang="en-US" sz="2400" b="1" dirty="0"/>
              <a:t> (quantity) </a:t>
            </a:r>
            <a:r>
              <a:rPr lang="en-US" sz="2400" b="1" dirty="0" err="1"/>
              <a:t>pentru</a:t>
            </a:r>
            <a:r>
              <a:rPr lang="en-US" sz="2400" b="1" dirty="0"/>
              <a:t> a le face </a:t>
            </a:r>
            <a:r>
              <a:rPr lang="en-US" sz="2400" b="1" dirty="0" err="1"/>
              <a:t>utilizabile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lumea</a:t>
            </a:r>
            <a:r>
              <a:rPr lang="en-US" sz="2400" b="1" dirty="0"/>
              <a:t> </a:t>
            </a:r>
            <a:r>
              <a:rPr lang="en-US" sz="2400" b="1" dirty="0" err="1"/>
              <a:t>reală</a:t>
            </a:r>
            <a:r>
              <a:rPr lang="en-US" sz="2400" b="1" dirty="0"/>
              <a:t> (ex.: le </a:t>
            </a:r>
            <a:r>
              <a:rPr lang="en-US" sz="2400" b="1" dirty="0" err="1"/>
              <a:t>convertește</a:t>
            </a:r>
            <a:r>
              <a:rPr lang="en-US" sz="2400" b="1" dirty="0"/>
              <a:t> din [0, 1] </a:t>
            </a:r>
            <a:r>
              <a:rPr lang="en-US" sz="2400" b="1" dirty="0" err="1"/>
              <a:t>înapoi</a:t>
            </a:r>
            <a:r>
              <a:rPr lang="en-US" sz="2400" b="1" dirty="0"/>
              <a:t> la [1, 50]).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Ieșire</a:t>
            </a:r>
            <a:r>
              <a:rPr lang="en-US" sz="2400" b="1" dirty="0"/>
              <a:t> JSON: </a:t>
            </a:r>
            <a:r>
              <a:rPr lang="en-US" sz="2400" b="1" dirty="0" err="1"/>
              <a:t>Returnează</a:t>
            </a:r>
            <a:r>
              <a:rPr lang="en-US" sz="2400" b="1" dirty="0"/>
              <a:t> </a:t>
            </a:r>
            <a:r>
              <a:rPr lang="en-US" sz="2400" b="1" dirty="0" err="1"/>
              <a:t>datele</a:t>
            </a:r>
            <a:r>
              <a:rPr lang="en-US" sz="2400" b="1" dirty="0"/>
              <a:t> generate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decodificate</a:t>
            </a:r>
            <a:r>
              <a:rPr lang="en-US" sz="2400" b="1" dirty="0"/>
              <a:t> (</a:t>
            </a:r>
            <a:r>
              <a:rPr lang="en-US" sz="2400" b="1" dirty="0" err="1"/>
              <a:t>Cantitate</a:t>
            </a:r>
            <a:r>
              <a:rPr lang="en-US" sz="2400" b="1" dirty="0"/>
              <a:t>, ID </a:t>
            </a:r>
            <a:r>
              <a:rPr lang="en-US" sz="2400" b="1" dirty="0" err="1"/>
              <a:t>Produs</a:t>
            </a:r>
            <a:r>
              <a:rPr lang="en-US" sz="2400" b="1" dirty="0"/>
              <a:t>, </a:t>
            </a:r>
            <a:r>
              <a:rPr lang="en-US" sz="2400" b="1" dirty="0" err="1"/>
              <a:t>Condiții</a:t>
            </a:r>
            <a:r>
              <a:rPr lang="en-US" sz="2400" b="1" dirty="0"/>
              <a:t>) </a:t>
            </a:r>
            <a:r>
              <a:rPr lang="en-US" sz="2400" b="1" dirty="0" err="1"/>
              <a:t>într</a:t>
            </a:r>
            <a:r>
              <a:rPr lang="en-US" sz="2400" b="1" dirty="0"/>
              <a:t>-un format JSON </a:t>
            </a:r>
            <a:r>
              <a:rPr lang="en-US" sz="2400" b="1" dirty="0" err="1"/>
              <a:t>ușor</a:t>
            </a:r>
            <a:r>
              <a:rPr lang="en-US" sz="2400" b="1" dirty="0"/>
              <a:t> de </a:t>
            </a:r>
            <a:r>
              <a:rPr lang="en-US" sz="2400" b="1" dirty="0" err="1"/>
              <a:t>citit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integrat</a:t>
            </a:r>
            <a:r>
              <a:rPr lang="en-US" sz="2400" b="1" dirty="0"/>
              <a:t> de </a:t>
            </a:r>
            <a:r>
              <a:rPr lang="en-US" sz="2400" b="1" dirty="0" err="1"/>
              <a:t>orice</a:t>
            </a:r>
            <a:r>
              <a:rPr lang="en-US" sz="2400" b="1" dirty="0"/>
              <a:t> </a:t>
            </a:r>
            <a:r>
              <a:rPr lang="en-US" sz="2400" b="1" dirty="0" err="1"/>
              <a:t>altă</a:t>
            </a:r>
            <a:r>
              <a:rPr lang="en-US" sz="2400" b="1" dirty="0"/>
              <a:t> </a:t>
            </a:r>
            <a:r>
              <a:rPr lang="en-US" sz="2400" b="1" dirty="0" err="1"/>
              <a:t>aplicație</a:t>
            </a:r>
            <a:r>
              <a:rPr lang="en-US" sz="2400" b="1" dirty="0"/>
              <a:t>.</a:t>
            </a:r>
          </a:p>
          <a:p>
            <a:r>
              <a:rPr lang="en-US" sz="2400" b="1" dirty="0"/>
              <a:t>Pe </a:t>
            </a:r>
            <a:r>
              <a:rPr lang="en-US" sz="2400" b="1" dirty="0" err="1"/>
              <a:t>scurt</a:t>
            </a:r>
            <a:r>
              <a:rPr lang="en-US" sz="2400" b="1" dirty="0"/>
              <a:t>: Este </a:t>
            </a:r>
            <a:r>
              <a:rPr lang="en-US" sz="2400" b="1" dirty="0" err="1"/>
              <a:t>puntea</a:t>
            </a:r>
            <a:r>
              <a:rPr lang="en-US" sz="2400" b="1" dirty="0"/>
              <a:t> de </a:t>
            </a:r>
            <a:r>
              <a:rPr lang="en-US" sz="2400" b="1" dirty="0" err="1"/>
              <a:t>legătură</a:t>
            </a:r>
            <a:r>
              <a:rPr lang="en-US" sz="2400" b="1" dirty="0"/>
              <a:t> care </a:t>
            </a:r>
            <a:r>
              <a:rPr lang="en-US" sz="2400" b="1" dirty="0" err="1"/>
              <a:t>permite</a:t>
            </a:r>
            <a:r>
              <a:rPr lang="en-US" sz="2400" b="1" dirty="0"/>
              <a:t> </a:t>
            </a:r>
            <a:r>
              <a:rPr lang="en-US" sz="2400" b="1" dirty="0" err="1"/>
              <a:t>altor</a:t>
            </a:r>
            <a:r>
              <a:rPr lang="en-US" sz="2400" b="1" dirty="0"/>
              <a:t> </a:t>
            </a:r>
            <a:r>
              <a:rPr lang="en-US" sz="2400" b="1" dirty="0" err="1"/>
              <a:t>aplicații</a:t>
            </a:r>
            <a:r>
              <a:rPr lang="en-US" sz="2400" b="1" dirty="0"/>
              <a:t> </a:t>
            </a:r>
            <a:r>
              <a:rPr lang="en-US" sz="2400" b="1" dirty="0" err="1"/>
              <a:t>să</a:t>
            </a:r>
            <a:r>
              <a:rPr lang="en-US" sz="2400" b="1" dirty="0"/>
              <a:t> </a:t>
            </a:r>
            <a:r>
              <a:rPr lang="en-US" sz="2400" b="1" dirty="0" err="1"/>
              <a:t>folosească</a:t>
            </a:r>
            <a:r>
              <a:rPr lang="en-US" sz="2400" b="1" dirty="0"/>
              <a:t> </a:t>
            </a:r>
            <a:r>
              <a:rPr lang="en-US" sz="2400" b="1" dirty="0" err="1"/>
              <a:t>Generatorul</a:t>
            </a:r>
            <a:r>
              <a:rPr lang="en-US" sz="2400" b="1" dirty="0"/>
              <a:t> </a:t>
            </a:r>
            <a:r>
              <a:rPr lang="en-US" sz="2400" b="1" dirty="0" err="1"/>
              <a:t>tău</a:t>
            </a:r>
            <a:r>
              <a:rPr lang="en-US" sz="2400" b="1" dirty="0"/>
              <a:t> de date </a:t>
            </a:r>
            <a:r>
              <a:rPr lang="en-US" sz="2400" b="1" dirty="0" err="1"/>
              <a:t>sintetice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90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273E-AE6A-E789-C066-864B5E22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2F39-5F18-9F6A-5D65-0DD89315E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8092440" cy="582167"/>
          </a:xfrm>
          <a:noFill/>
        </p:spPr>
        <p:txBody>
          <a:bodyPr/>
          <a:lstStyle/>
          <a:p>
            <a:pPr lvl="0"/>
            <a:r>
              <a:rPr lang="en-US" dirty="0"/>
              <a:t>Back-end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mapare</a:t>
            </a:r>
            <a:r>
              <a:rPr lang="en-US" dirty="0"/>
              <a:t> -</a:t>
            </a:r>
            <a:r>
              <a:rPr lang="en-US" b="1" dirty="0"/>
              <a:t> </a:t>
            </a:r>
            <a:r>
              <a:rPr lang="en-US" b="1" dirty="0" err="1"/>
              <a:t>GenerationService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CDE9D-BD32-D1DC-029A-CCED4C6F61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817" y="1591056"/>
            <a:ext cx="10214039" cy="415137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b="1" dirty="0" err="1"/>
              <a:t>GenerationService</a:t>
            </a:r>
            <a:r>
              <a:rPr lang="en-US" sz="2400" b="1" dirty="0"/>
              <a:t> (Orchestrator):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Primește</a:t>
            </a:r>
            <a:r>
              <a:rPr lang="en-US" sz="2400" b="1" dirty="0"/>
              <a:t> </a:t>
            </a:r>
            <a:r>
              <a:rPr lang="en-US" sz="2400" b="1" dirty="0" err="1"/>
              <a:t>cererea</a:t>
            </a:r>
            <a:r>
              <a:rPr lang="en-US" sz="2400" b="1" dirty="0"/>
              <a:t> (</a:t>
            </a:r>
            <a:r>
              <a:rPr lang="en-US" sz="2400" b="1" dirty="0" err="1"/>
              <a:t>GeneratorRequestDTO</a:t>
            </a:r>
            <a:r>
              <a:rPr lang="en-US" sz="2400" b="1" dirty="0"/>
              <a:t> - </a:t>
            </a:r>
            <a:r>
              <a:rPr lang="en-US" sz="2400" b="1" dirty="0" err="1"/>
              <a:t>dimensiune</a:t>
            </a:r>
            <a:r>
              <a:rPr lang="en-US" sz="2400" b="1" dirty="0"/>
              <a:t>, </a:t>
            </a:r>
            <a:r>
              <a:rPr lang="en-US" sz="2400" b="1" dirty="0" err="1"/>
              <a:t>definiții</a:t>
            </a:r>
            <a:r>
              <a:rPr lang="en-US" sz="2400" b="1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Trimite</a:t>
            </a:r>
            <a:r>
              <a:rPr lang="en-US" sz="2400" b="1" dirty="0"/>
              <a:t> o </a:t>
            </a:r>
            <a:r>
              <a:rPr lang="en-US" sz="2400" b="1" dirty="0" err="1"/>
              <a:t>cerere</a:t>
            </a:r>
            <a:r>
              <a:rPr lang="en-US" sz="2400" b="1" dirty="0"/>
              <a:t> HTTP POST (</a:t>
            </a:r>
            <a:r>
              <a:rPr lang="en-US" sz="2400" b="1" dirty="0" err="1"/>
              <a:t>RestTemplate</a:t>
            </a:r>
            <a:r>
              <a:rPr lang="en-US" sz="2400" b="1" dirty="0"/>
              <a:t>) </a:t>
            </a:r>
            <a:r>
              <a:rPr lang="en-US" sz="2400" b="1" dirty="0" err="1"/>
              <a:t>către</a:t>
            </a:r>
            <a:r>
              <a:rPr lang="en-US" sz="2400" b="1" dirty="0"/>
              <a:t> API-ul GAN </a:t>
            </a:r>
            <a:r>
              <a:rPr lang="en-US" sz="2400" b="1" dirty="0" err="1"/>
              <a:t>pentru</a:t>
            </a:r>
            <a:r>
              <a:rPr lang="en-US" sz="2400" b="1" dirty="0"/>
              <a:t> a genera </a:t>
            </a:r>
            <a:r>
              <a:rPr lang="en-US" sz="2400" b="1" dirty="0" err="1"/>
              <a:t>eșantioane</a:t>
            </a:r>
            <a:r>
              <a:rPr lang="en-US" sz="2400" b="1" dirty="0"/>
              <a:t> </a:t>
            </a:r>
            <a:r>
              <a:rPr lang="en-US" sz="2400" b="1" dirty="0" err="1"/>
              <a:t>numerice</a:t>
            </a:r>
            <a:r>
              <a:rPr lang="en-US" sz="2400" b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Primește</a:t>
            </a:r>
            <a:r>
              <a:rPr lang="en-US" sz="2400" b="1" dirty="0"/>
              <a:t> </a:t>
            </a:r>
            <a:r>
              <a:rPr lang="en-US" sz="2400" b="1" dirty="0" err="1"/>
              <a:t>datele</a:t>
            </a:r>
            <a:r>
              <a:rPr lang="en-US" sz="2400" b="1" dirty="0"/>
              <a:t> brute (</a:t>
            </a:r>
            <a:r>
              <a:rPr lang="en-US" sz="2400" b="1" dirty="0" err="1"/>
              <a:t>SyntheticTransaction</a:t>
            </a:r>
            <a:r>
              <a:rPr lang="en-US" sz="2400" b="1" dirty="0"/>
              <a:t>[]).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/>
              <a:t>Delegă</a:t>
            </a:r>
            <a:r>
              <a:rPr lang="en-US" sz="2400" b="1" dirty="0"/>
              <a:t> </a:t>
            </a:r>
            <a:r>
              <a:rPr lang="en-US" sz="2400" b="1" dirty="0" err="1"/>
              <a:t>transformarea</a:t>
            </a:r>
            <a:r>
              <a:rPr lang="en-US" sz="2400" b="1" dirty="0"/>
              <a:t> </a:t>
            </a:r>
            <a:r>
              <a:rPr lang="en-US" sz="2400" b="1" dirty="0" err="1"/>
              <a:t>către</a:t>
            </a:r>
            <a:r>
              <a:rPr lang="en-US" sz="2400" b="1" dirty="0"/>
              <a:t> </a:t>
            </a:r>
            <a:r>
              <a:rPr lang="en-US" sz="2400" b="1" dirty="0" err="1"/>
              <a:t>TransactionMapper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salvarea</a:t>
            </a:r>
            <a:r>
              <a:rPr lang="en-US" sz="2400" b="1" dirty="0"/>
              <a:t> </a:t>
            </a:r>
            <a:r>
              <a:rPr lang="en-US" sz="2400" b="1" dirty="0" err="1"/>
              <a:t>finală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CSV </a:t>
            </a:r>
            <a:r>
              <a:rPr lang="en-US" sz="2400" b="1" dirty="0" err="1"/>
              <a:t>către</a:t>
            </a:r>
            <a:r>
              <a:rPr lang="en-US" sz="2400" b="1" dirty="0"/>
              <a:t> </a:t>
            </a:r>
            <a:r>
              <a:rPr lang="en-US" sz="2400" b="1" dirty="0" err="1"/>
              <a:t>CsvFileService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079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D5D9-F5F5-A891-F968-5840EDC1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846B-7147-0926-DDAE-980327C6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683496" cy="582167"/>
          </a:xfrm>
          <a:noFill/>
        </p:spPr>
        <p:txBody>
          <a:bodyPr/>
          <a:lstStyle/>
          <a:p>
            <a:r>
              <a:rPr lang="en-US" dirty="0"/>
              <a:t>Back-end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mapare</a:t>
            </a:r>
            <a:r>
              <a:rPr lang="en-US" dirty="0"/>
              <a:t> - </a:t>
            </a:r>
            <a:r>
              <a:rPr lang="en-US" b="1" dirty="0" err="1"/>
              <a:t>Stratul</a:t>
            </a:r>
            <a:r>
              <a:rPr lang="en-US" b="1" dirty="0"/>
              <a:t> de </a:t>
            </a:r>
            <a:r>
              <a:rPr lang="en-US" b="1" dirty="0" err="1"/>
              <a:t>Mapare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Transformare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AF014-94EF-2A1F-9846-A59B1C8346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5817" y="1591056"/>
            <a:ext cx="10521887" cy="4562856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r>
              <a:rPr lang="en-US" sz="2400" b="1" dirty="0" err="1"/>
              <a:t>Acesta</a:t>
            </a:r>
            <a:r>
              <a:rPr lang="en-US" sz="2400" b="1" dirty="0"/>
              <a:t> </a:t>
            </a:r>
            <a:r>
              <a:rPr lang="en-US" sz="2400" b="1" dirty="0" err="1"/>
              <a:t>este</a:t>
            </a:r>
            <a:r>
              <a:rPr lang="en-US" sz="2400" b="1" dirty="0"/>
              <a:t> </a:t>
            </a:r>
            <a:r>
              <a:rPr lang="en-US" sz="2400" b="1" dirty="0" err="1"/>
              <a:t>stratul</a:t>
            </a:r>
            <a:r>
              <a:rPr lang="en-US" sz="2400" b="1" dirty="0"/>
              <a:t> logic care </a:t>
            </a:r>
            <a:r>
              <a:rPr lang="en-US" sz="2400" b="1" dirty="0" err="1"/>
              <a:t>convertește</a:t>
            </a:r>
            <a:r>
              <a:rPr lang="en-US" sz="2400" b="1" dirty="0"/>
              <a:t> </a:t>
            </a:r>
            <a:r>
              <a:rPr lang="en-US" sz="2400" b="1" dirty="0" err="1"/>
              <a:t>vectorii</a:t>
            </a:r>
            <a:r>
              <a:rPr lang="en-US" sz="2400" b="1" dirty="0"/>
              <a:t> </a:t>
            </a:r>
            <a:r>
              <a:rPr lang="en-US" sz="2400" b="1" dirty="0" err="1"/>
              <a:t>numerici</a:t>
            </a:r>
            <a:r>
              <a:rPr lang="en-US" sz="2400" b="1" dirty="0"/>
              <a:t> ai GAN-</a:t>
            </a:r>
            <a:r>
              <a:rPr lang="en-US" sz="2400" b="1" dirty="0" err="1"/>
              <a:t>ului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date </a:t>
            </a:r>
            <a:r>
              <a:rPr lang="en-US" sz="2400" b="1" dirty="0" err="1"/>
              <a:t>structurate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lizibile</a:t>
            </a:r>
            <a:r>
              <a:rPr lang="en-US" sz="2400" b="1" dirty="0"/>
              <a:t>.</a:t>
            </a:r>
          </a:p>
          <a:p>
            <a:r>
              <a:rPr lang="en-US" sz="3200" b="1" dirty="0" err="1"/>
              <a:t>TransactionMapper</a:t>
            </a:r>
            <a:r>
              <a:rPr lang="en-US" sz="3200" b="1" dirty="0"/>
              <a:t> (</a:t>
            </a:r>
            <a:r>
              <a:rPr lang="en-US" sz="3200" b="1" dirty="0" err="1"/>
              <a:t>Decodor</a:t>
            </a:r>
            <a:r>
              <a:rPr lang="en-US" sz="3200" b="1" dirty="0"/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Convertește</a:t>
            </a:r>
            <a:r>
              <a:rPr lang="en-US" sz="2400" b="1" dirty="0"/>
              <a:t> </a:t>
            </a:r>
            <a:r>
              <a:rPr lang="en-US" sz="2400" b="1" dirty="0" err="1"/>
              <a:t>fiecare</a:t>
            </a:r>
            <a:r>
              <a:rPr lang="en-US" sz="2400" b="1" dirty="0"/>
              <a:t> </a:t>
            </a:r>
            <a:r>
              <a:rPr lang="en-US" sz="2400" b="1" dirty="0" err="1"/>
              <a:t>SyntheticTransaction</a:t>
            </a:r>
            <a:r>
              <a:rPr lang="en-US" sz="2400" b="1" dirty="0"/>
              <a:t> brut </a:t>
            </a:r>
            <a:r>
              <a:rPr lang="en-US" sz="2400" b="1" dirty="0" err="1"/>
              <a:t>într</a:t>
            </a:r>
            <a:r>
              <a:rPr lang="en-US" sz="2400" b="1" dirty="0"/>
              <a:t>-un </a:t>
            </a:r>
            <a:r>
              <a:rPr lang="en-US" sz="2400" b="1" dirty="0" err="1"/>
              <a:t>TransactionDTO</a:t>
            </a:r>
            <a:r>
              <a:rPr lang="en-US" sz="2400" b="1" dirty="0"/>
              <a:t> final.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Maparea</a:t>
            </a:r>
            <a:r>
              <a:rPr lang="en-US" sz="2400" b="1" dirty="0"/>
              <a:t> </a:t>
            </a:r>
            <a:r>
              <a:rPr lang="en-US" sz="2400" b="1" dirty="0" err="1"/>
              <a:t>Produsului</a:t>
            </a:r>
            <a:r>
              <a:rPr lang="en-US" sz="2400" b="1" dirty="0"/>
              <a:t>: </a:t>
            </a:r>
            <a:r>
              <a:rPr lang="en-US" sz="2400" b="1" dirty="0" err="1"/>
              <a:t>Scalarea</a:t>
            </a:r>
            <a:r>
              <a:rPr lang="en-US" sz="2400" b="1" dirty="0"/>
              <a:t>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maparea</a:t>
            </a:r>
            <a:r>
              <a:rPr lang="en-US" sz="2400" b="1" dirty="0"/>
              <a:t> </a:t>
            </a:r>
            <a:r>
              <a:rPr lang="en-US" sz="2400" b="1" dirty="0" err="1"/>
              <a:t>indexului</a:t>
            </a:r>
            <a:r>
              <a:rPr lang="en-US" sz="2400" b="1" dirty="0"/>
              <a:t> numeric (</a:t>
            </a:r>
            <a:r>
              <a:rPr lang="en-US" sz="2400" b="1" dirty="0" err="1"/>
              <a:t>productId</a:t>
            </a:r>
            <a:r>
              <a:rPr lang="en-US" sz="2400" b="1" dirty="0"/>
              <a:t>) </a:t>
            </a:r>
            <a:r>
              <a:rPr lang="en-US" sz="2400" b="1" dirty="0" err="1"/>
              <a:t>generat</a:t>
            </a:r>
            <a:r>
              <a:rPr lang="en-US" sz="2400" b="1" dirty="0"/>
              <a:t> de GAN la un </a:t>
            </a:r>
            <a:r>
              <a:rPr lang="en-US" sz="2400" b="1" dirty="0" err="1"/>
              <a:t>nume</a:t>
            </a:r>
            <a:r>
              <a:rPr lang="en-US" sz="2400" b="1" dirty="0"/>
              <a:t> de </a:t>
            </a:r>
            <a:r>
              <a:rPr lang="en-US" sz="2400" b="1" dirty="0" err="1"/>
              <a:t>produs</a:t>
            </a:r>
            <a:r>
              <a:rPr lang="en-US" sz="2400" b="1" dirty="0"/>
              <a:t> real (</a:t>
            </a:r>
            <a:r>
              <a:rPr lang="en-US" sz="2400" b="1" dirty="0" err="1"/>
              <a:t>productNames</a:t>
            </a:r>
            <a:r>
              <a:rPr lang="en-US" sz="2400" b="1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Maparea</a:t>
            </a:r>
            <a:r>
              <a:rPr lang="en-US" sz="2400" b="1" dirty="0"/>
              <a:t> </a:t>
            </a:r>
            <a:r>
              <a:rPr lang="en-US" sz="2400" b="1" dirty="0" err="1"/>
              <a:t>Caracteristicilor</a:t>
            </a:r>
            <a:r>
              <a:rPr lang="en-US" sz="2400" b="1" dirty="0"/>
              <a:t>: </a:t>
            </a:r>
            <a:r>
              <a:rPr lang="en-US" sz="2400" b="1" dirty="0" err="1"/>
              <a:t>Iterează</a:t>
            </a:r>
            <a:r>
              <a:rPr lang="en-US" sz="2400" b="1" dirty="0"/>
              <a:t> </a:t>
            </a:r>
            <a:r>
              <a:rPr lang="en-US" sz="2400" b="1" dirty="0" err="1"/>
              <a:t>prin</a:t>
            </a:r>
            <a:r>
              <a:rPr lang="en-US" sz="2400" b="1" dirty="0"/>
              <a:t> </a:t>
            </a:r>
            <a:r>
              <a:rPr lang="en-US" sz="2400" b="1" dirty="0" err="1"/>
              <a:t>lista</a:t>
            </a:r>
            <a:r>
              <a:rPr lang="en-US" sz="2400" b="1" dirty="0"/>
              <a:t> de </a:t>
            </a:r>
            <a:r>
              <a:rPr lang="en-US" sz="2400" b="1" dirty="0" err="1"/>
              <a:t>valori</a:t>
            </a:r>
            <a:r>
              <a:rPr lang="en-US" sz="2400" b="1" dirty="0"/>
              <a:t> </a:t>
            </a:r>
            <a:r>
              <a:rPr lang="en-US" sz="2400" b="1" dirty="0" err="1"/>
              <a:t>flotante</a:t>
            </a:r>
            <a:r>
              <a:rPr lang="en-US" sz="2400" b="1" dirty="0"/>
              <a:t> (conditions) </a:t>
            </a:r>
            <a:r>
              <a:rPr lang="en-US" sz="2400" b="1" dirty="0" err="1"/>
              <a:t>și</a:t>
            </a:r>
            <a:r>
              <a:rPr lang="en-US" sz="2400" b="1" dirty="0"/>
              <a:t> </a:t>
            </a:r>
            <a:r>
              <a:rPr lang="en-US" sz="2400" b="1" dirty="0" err="1"/>
              <a:t>folosește</a:t>
            </a:r>
            <a:r>
              <a:rPr lang="en-US" sz="2400" b="1" dirty="0"/>
              <a:t> </a:t>
            </a:r>
            <a:r>
              <a:rPr lang="en-US" sz="2400" b="1" dirty="0" err="1"/>
              <a:t>FeatureMappers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le </a:t>
            </a:r>
            <a:r>
              <a:rPr lang="en-US" sz="2400" b="1" dirty="0" err="1"/>
              <a:t>transforma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</a:t>
            </a:r>
            <a:r>
              <a:rPr lang="en-US" sz="2400" b="1" dirty="0" err="1"/>
              <a:t>caracteristici</a:t>
            </a:r>
            <a:r>
              <a:rPr lang="en-US" sz="2400" b="1" dirty="0"/>
              <a:t> (Map&lt;</a:t>
            </a:r>
            <a:r>
              <a:rPr lang="en-US" sz="2400" b="1" dirty="0" err="1"/>
              <a:t>Nume</a:t>
            </a:r>
            <a:r>
              <a:rPr lang="en-US" sz="2400" b="1" dirty="0"/>
              <a:t>, </a:t>
            </a:r>
            <a:r>
              <a:rPr lang="en-US" sz="2400" b="1" dirty="0" err="1"/>
              <a:t>Valoare</a:t>
            </a:r>
            <a:r>
              <a:rPr lang="en-US" sz="2400" b="1" dirty="0"/>
              <a:t>&gt;) conform </a:t>
            </a:r>
            <a:r>
              <a:rPr lang="en-US" sz="2400" b="1" dirty="0" err="1"/>
              <a:t>definițiilor</a:t>
            </a:r>
            <a:r>
              <a:rPr lang="en-US" sz="2400" b="1" dirty="0"/>
              <a:t> </a:t>
            </a:r>
            <a:r>
              <a:rPr lang="en-US" sz="2400" b="1" dirty="0" err="1"/>
              <a:t>furnizate</a:t>
            </a:r>
            <a:r>
              <a:rPr lang="en-US" sz="2400" b="1" dirty="0"/>
              <a:t>.</a:t>
            </a:r>
          </a:p>
          <a:p>
            <a:r>
              <a:rPr lang="en-US" sz="3200" b="1" dirty="0" err="1"/>
              <a:t>FeatureMappers</a:t>
            </a:r>
            <a:r>
              <a:rPr lang="en-US" sz="3200" b="1" dirty="0"/>
              <a:t> (</a:t>
            </a:r>
            <a:r>
              <a:rPr lang="en-US" sz="3200" b="1" dirty="0" err="1"/>
              <a:t>Logică</a:t>
            </a:r>
            <a:r>
              <a:rPr lang="en-US" sz="3200" b="1" dirty="0"/>
              <a:t> de Tip):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Implementează</a:t>
            </a:r>
            <a:r>
              <a:rPr lang="en-US" sz="2400" b="1" dirty="0"/>
              <a:t> </a:t>
            </a:r>
            <a:r>
              <a:rPr lang="en-US" sz="2400" b="1" dirty="0" err="1"/>
              <a:t>logica</a:t>
            </a:r>
            <a:r>
              <a:rPr lang="en-US" sz="2400" b="1" dirty="0"/>
              <a:t> de </a:t>
            </a:r>
            <a:r>
              <a:rPr lang="en-US" sz="2400" b="1" dirty="0" err="1"/>
              <a:t>conversie</a:t>
            </a:r>
            <a:r>
              <a:rPr lang="en-US" sz="2400" b="1" dirty="0"/>
              <a:t> a </a:t>
            </a:r>
            <a:r>
              <a:rPr lang="en-US" sz="2400" b="1" dirty="0" err="1"/>
              <a:t>valorilor</a:t>
            </a:r>
            <a:r>
              <a:rPr lang="en-US" sz="2400" b="1" dirty="0"/>
              <a:t> </a:t>
            </a:r>
            <a:r>
              <a:rPr lang="en-US" sz="2400" b="1" dirty="0" err="1"/>
              <a:t>flotante</a:t>
            </a:r>
            <a:r>
              <a:rPr lang="en-US" sz="2400" b="1" dirty="0"/>
              <a:t> (</a:t>
            </a:r>
            <a:r>
              <a:rPr lang="en-US" sz="2400" b="1" dirty="0" err="1"/>
              <a:t>normalizate</a:t>
            </a:r>
            <a:r>
              <a:rPr lang="en-US" sz="2400" b="1" dirty="0"/>
              <a:t> pe $[0.0, 1.0]$) la </a:t>
            </a:r>
            <a:r>
              <a:rPr lang="en-US" sz="2400" b="1" dirty="0" err="1"/>
              <a:t>tipuri</a:t>
            </a:r>
            <a:r>
              <a:rPr lang="en-US" sz="2400" b="1" dirty="0"/>
              <a:t> de date </a:t>
            </a:r>
            <a:r>
              <a:rPr lang="en-US" sz="2400" b="1" dirty="0" err="1"/>
              <a:t>specifice</a:t>
            </a:r>
            <a:r>
              <a:rPr lang="en-US" sz="2400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Categorii</a:t>
            </a:r>
            <a:r>
              <a:rPr lang="en-US" sz="2400" b="1" dirty="0"/>
              <a:t>/</a:t>
            </a:r>
            <a:r>
              <a:rPr lang="en-US" sz="2400" b="1" dirty="0" err="1"/>
              <a:t>Etichete</a:t>
            </a:r>
            <a:r>
              <a:rPr lang="en-US" sz="2400" b="1" dirty="0"/>
              <a:t> (</a:t>
            </a:r>
            <a:r>
              <a:rPr lang="en-US" sz="2400" b="1" dirty="0" err="1"/>
              <a:t>getForLabels</a:t>
            </a:r>
            <a:r>
              <a:rPr lang="en-US" sz="2400" b="1" dirty="0"/>
              <a:t>): </a:t>
            </a:r>
            <a:r>
              <a:rPr lang="en-US" sz="2400" b="1" dirty="0" err="1"/>
              <a:t>Folosește</a:t>
            </a:r>
            <a:r>
              <a:rPr lang="en-US" sz="2400" b="1" dirty="0"/>
              <a:t> Binning (</a:t>
            </a:r>
            <a:r>
              <a:rPr lang="en-US" sz="2400" b="1" dirty="0" err="1"/>
              <a:t>Discretizare</a:t>
            </a:r>
            <a:r>
              <a:rPr lang="en-US" sz="2400" b="1" dirty="0"/>
              <a:t>) </a:t>
            </a:r>
            <a:r>
              <a:rPr lang="en-US" sz="2400" b="1" dirty="0" err="1"/>
              <a:t>pentru</a:t>
            </a:r>
            <a:r>
              <a:rPr lang="en-US" sz="2400" b="1" dirty="0"/>
              <a:t> a </a:t>
            </a:r>
            <a:r>
              <a:rPr lang="en-US" sz="2400" b="1" dirty="0" err="1"/>
              <a:t>mapa</a:t>
            </a:r>
            <a:r>
              <a:rPr lang="en-US" sz="2400" b="1" dirty="0"/>
              <a:t> </a:t>
            </a:r>
            <a:r>
              <a:rPr lang="en-US" sz="2400" b="1" dirty="0" err="1"/>
              <a:t>valoarea</a:t>
            </a:r>
            <a:r>
              <a:rPr lang="en-US" sz="2400" b="1" dirty="0"/>
              <a:t> </a:t>
            </a:r>
            <a:r>
              <a:rPr lang="en-US" sz="2400" b="1" dirty="0" err="1"/>
              <a:t>continuă</a:t>
            </a:r>
            <a:r>
              <a:rPr lang="en-US" sz="2400" b="1" dirty="0"/>
              <a:t> la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dintre</a:t>
            </a:r>
            <a:r>
              <a:rPr lang="en-US" sz="2400" b="1" dirty="0"/>
              <a:t> </a:t>
            </a:r>
            <a:r>
              <a:rPr lang="en-US" sz="2400" b="1" dirty="0" err="1"/>
              <a:t>categoriile</a:t>
            </a:r>
            <a:r>
              <a:rPr lang="en-US" sz="2400" b="1" dirty="0"/>
              <a:t> discrete.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 </a:t>
            </a:r>
            <a:r>
              <a:rPr lang="en-US" sz="2400" b="1" dirty="0" err="1"/>
              <a:t>calendaristica</a:t>
            </a:r>
            <a:r>
              <a:rPr lang="en-US" sz="2400" b="1" dirty="0"/>
              <a:t> (</a:t>
            </a:r>
            <a:r>
              <a:rPr lang="en-US" sz="2400" b="1" dirty="0" err="1"/>
              <a:t>getForDate</a:t>
            </a:r>
            <a:r>
              <a:rPr lang="en-US" sz="2400" b="1" dirty="0"/>
              <a:t>) / </a:t>
            </a:r>
            <a:r>
              <a:rPr lang="en-US" sz="2400" b="1" dirty="0" err="1"/>
              <a:t>Număr</a:t>
            </a:r>
            <a:r>
              <a:rPr lang="en-US" sz="2400" b="1" dirty="0"/>
              <a:t> (</a:t>
            </a:r>
            <a:r>
              <a:rPr lang="en-US" sz="2400" b="1" dirty="0" err="1"/>
              <a:t>getForNumber</a:t>
            </a:r>
            <a:r>
              <a:rPr lang="en-US" sz="2400" b="1" dirty="0"/>
              <a:t>): </a:t>
            </a:r>
            <a:r>
              <a:rPr lang="en-US" sz="2400" b="1" dirty="0" err="1"/>
              <a:t>Aplică</a:t>
            </a:r>
            <a:r>
              <a:rPr lang="en-US" sz="2400" b="1" dirty="0"/>
              <a:t> </a:t>
            </a:r>
            <a:r>
              <a:rPr lang="en-US" sz="2400" b="1" dirty="0" err="1"/>
              <a:t>Interpolarea</a:t>
            </a:r>
            <a:r>
              <a:rPr lang="en-US" sz="2400" b="1" dirty="0"/>
              <a:t> </a:t>
            </a:r>
            <a:r>
              <a:rPr lang="en-US" sz="2400" b="1" dirty="0" err="1"/>
              <a:t>Liniară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scala </a:t>
            </a:r>
            <a:r>
              <a:rPr lang="en-US" sz="2400" b="1" dirty="0" err="1"/>
              <a:t>valoarea</a:t>
            </a:r>
            <a:r>
              <a:rPr lang="en-US" sz="2400" b="1" dirty="0"/>
              <a:t> </a:t>
            </a:r>
            <a:r>
              <a:rPr lang="en-US" sz="2400" b="1" dirty="0" err="1"/>
              <a:t>normalizată</a:t>
            </a:r>
            <a:r>
              <a:rPr lang="en-US" sz="2400" b="1" dirty="0"/>
              <a:t> </a:t>
            </a:r>
            <a:r>
              <a:rPr lang="en-US" sz="2400" b="1" dirty="0" err="1"/>
              <a:t>între</a:t>
            </a:r>
            <a:r>
              <a:rPr lang="en-US" sz="2400" b="1" dirty="0"/>
              <a:t> </a:t>
            </a:r>
            <a:r>
              <a:rPr lang="en-US" sz="2400" b="1" dirty="0" err="1"/>
              <a:t>limitele</a:t>
            </a:r>
            <a:r>
              <a:rPr lang="en-US" sz="2400" b="1" dirty="0"/>
              <a:t> (date </a:t>
            </a:r>
            <a:r>
              <a:rPr lang="en-US" sz="2400" b="1" dirty="0" err="1"/>
              <a:t>sau</a:t>
            </a:r>
            <a:r>
              <a:rPr lang="en-US" sz="2400" b="1" dirty="0"/>
              <a:t> </a:t>
            </a:r>
            <a:r>
              <a:rPr lang="en-US" sz="2400" b="1" dirty="0" err="1"/>
              <a:t>numere</a:t>
            </a:r>
            <a:r>
              <a:rPr lang="en-US" sz="2400" b="1" dirty="0"/>
              <a:t>) </a:t>
            </a:r>
            <a:r>
              <a:rPr lang="en-US" sz="2400" b="1" dirty="0" err="1"/>
              <a:t>specificate</a:t>
            </a:r>
            <a:r>
              <a:rPr lang="en-US" sz="24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Numere</a:t>
            </a:r>
            <a:r>
              <a:rPr lang="en-US" sz="2400" b="1" dirty="0"/>
              <a:t> </a:t>
            </a:r>
            <a:r>
              <a:rPr lang="en-US" sz="2400" b="1" dirty="0" err="1"/>
              <a:t>Secvențiale</a:t>
            </a:r>
            <a:r>
              <a:rPr lang="en-US" sz="2400" b="1" dirty="0"/>
              <a:t> (</a:t>
            </a:r>
            <a:r>
              <a:rPr lang="en-US" sz="2400" b="1" dirty="0" err="1"/>
              <a:t>Telefon</a:t>
            </a:r>
            <a:r>
              <a:rPr lang="en-US" sz="2400" b="1" dirty="0"/>
              <a:t>/Card): </a:t>
            </a:r>
            <a:r>
              <a:rPr lang="en-US" sz="2400" b="1" dirty="0" err="1"/>
              <a:t>Scalează</a:t>
            </a:r>
            <a:r>
              <a:rPr lang="en-US" sz="2400" b="1" dirty="0"/>
              <a:t> </a:t>
            </a:r>
            <a:r>
              <a:rPr lang="en-US" sz="2400" b="1" dirty="0" err="1"/>
              <a:t>valoarea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a genera </a:t>
            </a:r>
            <a:r>
              <a:rPr lang="en-US" sz="2400" b="1" dirty="0" err="1"/>
              <a:t>șiruri</a:t>
            </a:r>
            <a:r>
              <a:rPr lang="en-US" sz="2400" b="1" dirty="0"/>
              <a:t> </a:t>
            </a:r>
            <a:r>
              <a:rPr lang="en-US" sz="2400" b="1" dirty="0" err="1"/>
              <a:t>numerice</a:t>
            </a:r>
            <a:r>
              <a:rPr lang="en-US" sz="2400" b="1" dirty="0"/>
              <a:t> de </a:t>
            </a:r>
            <a:r>
              <a:rPr lang="en-US" sz="2400" b="1" dirty="0" err="1"/>
              <a:t>lungime</a:t>
            </a:r>
            <a:r>
              <a:rPr lang="en-US" sz="2400" b="1" dirty="0"/>
              <a:t> </a:t>
            </a:r>
            <a:r>
              <a:rPr lang="en-US" sz="2400" b="1" dirty="0" err="1"/>
              <a:t>fixă</a:t>
            </a:r>
            <a:r>
              <a:rPr lang="en-US" sz="2400" b="1" dirty="0"/>
              <a:t>, cu zero-</a:t>
            </a:r>
            <a:r>
              <a:rPr lang="en-US" sz="2400" b="1" dirty="0" err="1"/>
              <a:t>uri</a:t>
            </a:r>
            <a:r>
              <a:rPr lang="en-US" sz="2400" b="1" dirty="0"/>
              <a:t> </a:t>
            </a:r>
            <a:r>
              <a:rPr lang="en-US" sz="2400" b="1" dirty="0" err="1"/>
              <a:t>inițiale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7469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677B-7668-ECDB-8314-B9968C6A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1B1B-FFCA-1662-C10F-B4AAAF81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683496" cy="582167"/>
          </a:xfrm>
          <a:noFill/>
        </p:spPr>
        <p:txBody>
          <a:bodyPr/>
          <a:lstStyle/>
          <a:p>
            <a:r>
              <a:rPr lang="en-US" dirty="0"/>
              <a:t>Back-end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mapare</a:t>
            </a:r>
            <a:r>
              <a:rPr lang="en-US" dirty="0"/>
              <a:t> – </a:t>
            </a:r>
            <a:r>
              <a:rPr lang="en-US" b="1" dirty="0"/>
              <a:t>Cod </a:t>
            </a:r>
            <a:r>
              <a:rPr lang="en-US" b="1" dirty="0" err="1"/>
              <a:t>sursa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2FE68-0C94-C9FA-EE26-56F61D2C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29" y="1647825"/>
            <a:ext cx="5339314" cy="3562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A0DF0E-818F-35CD-5D1A-2EDF363DD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263376"/>
            <a:ext cx="5215064" cy="494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29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3789" y="6628"/>
            <a:ext cx="4518211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5882" h="6857998">
                <a:moveTo>
                  <a:pt x="2702091" y="0"/>
                </a:moveTo>
                <a:lnTo>
                  <a:pt x="6125882" y="0"/>
                </a:lnTo>
                <a:lnTo>
                  <a:pt x="6125882" y="6857998"/>
                </a:lnTo>
                <a:lnTo>
                  <a:pt x="0" y="6846045"/>
                </a:lnTo>
                <a:lnTo>
                  <a:pt x="270209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048" y="1645542"/>
            <a:ext cx="7009948" cy="35161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6600">
                <a:solidFill>
                  <a:schemeClr val="tx2"/>
                </a:solidFill>
              </a:rPr>
              <a:t>Set de date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5898776" cy="13506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1613647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173896"/>
            <a:ext cx="3094383" cy="3684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038522" y="0"/>
            <a:ext cx="2153476" cy="4446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277412" y="-1"/>
            <a:ext cx="3914588" cy="20977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6383" y="5811078"/>
            <a:ext cx="4678017" cy="1046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98777" y="5307496"/>
            <a:ext cx="6293223" cy="155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822E-8546-C885-2ED0-E06F49A1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de date </a:t>
            </a:r>
            <a:r>
              <a:rPr lang="en-US" dirty="0" err="1"/>
              <a:t>sintetice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5EA4-788E-56CC-E9EC-605A6E391CC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Confidențialitate</a:t>
            </a:r>
            <a:r>
              <a:rPr lang="en-US" sz="2400" dirty="0"/>
              <a:t>: </a:t>
            </a:r>
            <a:r>
              <a:rPr lang="en-US" sz="2400" dirty="0" err="1"/>
              <a:t>Protejează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</a:t>
            </a:r>
            <a:r>
              <a:rPr lang="en-US" sz="2400" dirty="0" err="1"/>
              <a:t>reale</a:t>
            </a:r>
            <a:r>
              <a:rPr lang="en-US" sz="2400" dirty="0"/>
              <a:t> </a:t>
            </a:r>
            <a:r>
              <a:rPr lang="en-US" sz="2400" dirty="0" err="1"/>
              <a:t>sensibile</a:t>
            </a:r>
            <a:r>
              <a:rPr lang="en-US" sz="2400" dirty="0"/>
              <a:t> (</a:t>
            </a:r>
            <a:r>
              <a:rPr lang="en-US" sz="2400" dirty="0" err="1"/>
              <a:t>financiare</a:t>
            </a:r>
            <a:r>
              <a:rPr lang="en-US" sz="2400" dirty="0"/>
              <a:t>), </a:t>
            </a:r>
            <a:r>
              <a:rPr lang="en-US" sz="2400" dirty="0" err="1"/>
              <a:t>permițând</a:t>
            </a:r>
            <a:r>
              <a:rPr lang="en-US" sz="2400" dirty="0"/>
              <a:t> </a:t>
            </a:r>
            <a:r>
              <a:rPr lang="en-US" sz="2400" dirty="0" err="1"/>
              <a:t>testarea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 </a:t>
            </a:r>
            <a:r>
              <a:rPr lang="en-US" sz="2400" dirty="0" err="1"/>
              <a:t>într</a:t>
            </a:r>
            <a:r>
              <a:rPr lang="en-US" sz="2400" dirty="0"/>
              <a:t>-un </a:t>
            </a:r>
            <a:r>
              <a:rPr lang="en-US" sz="2400" dirty="0" err="1"/>
              <a:t>mediu</a:t>
            </a:r>
            <a:r>
              <a:rPr lang="en-US" sz="2400" dirty="0"/>
              <a:t> </a:t>
            </a:r>
            <a:r>
              <a:rPr lang="en-US" sz="2400" dirty="0" err="1"/>
              <a:t>sigur</a:t>
            </a:r>
            <a:r>
              <a:rPr lang="en-US" sz="2400" dirty="0"/>
              <a:t>. De </a:t>
            </a:r>
            <a:r>
              <a:rPr lang="en-US" sz="2400" dirty="0" err="1"/>
              <a:t>asemenea</a:t>
            </a:r>
            <a:r>
              <a:rPr lang="en-US" sz="2400" dirty="0"/>
              <a:t>, </a:t>
            </a:r>
            <a:r>
              <a:rPr lang="en-US" sz="2400" dirty="0" err="1"/>
              <a:t>oferă</a:t>
            </a:r>
            <a:r>
              <a:rPr lang="en-US" sz="2400" dirty="0"/>
              <a:t> un set de date </a:t>
            </a:r>
            <a:r>
              <a:rPr lang="en-US" sz="2400" dirty="0" err="1"/>
              <a:t>complet</a:t>
            </a:r>
            <a:r>
              <a:rPr lang="en-US" sz="2400" dirty="0"/>
              <a:t>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 err="1"/>
              <a:t>când</a:t>
            </a:r>
            <a:r>
              <a:rPr lang="en-US" sz="2400" dirty="0"/>
              <a:t> </a:t>
            </a:r>
            <a:r>
              <a:rPr lang="en-US" sz="2400" dirty="0" err="1"/>
              <a:t>sursele</a:t>
            </a:r>
            <a:r>
              <a:rPr lang="en-US" sz="2400" dirty="0"/>
              <a:t> </a:t>
            </a:r>
            <a:r>
              <a:rPr lang="en-US" sz="2400" dirty="0" err="1"/>
              <a:t>reale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sunt incomplete din motive de </a:t>
            </a:r>
            <a:r>
              <a:rPr lang="en-US" sz="2400" dirty="0" err="1"/>
              <a:t>confidențialitate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Focus: </a:t>
            </a:r>
            <a:r>
              <a:rPr lang="fr-FR" sz="2400" dirty="0" err="1"/>
              <a:t>Datele</a:t>
            </a:r>
            <a:r>
              <a:rPr lang="fr-FR" sz="2400" dirty="0"/>
              <a:t> </a:t>
            </a:r>
            <a:r>
              <a:rPr lang="fr-FR" sz="2400" dirty="0" err="1"/>
              <a:t>reale</a:t>
            </a:r>
            <a:r>
              <a:rPr lang="fr-FR" sz="2400" dirty="0"/>
              <a:t> (</a:t>
            </a:r>
            <a:r>
              <a:rPr lang="fr-FR" sz="2400" dirty="0" err="1"/>
              <a:t>din</a:t>
            </a:r>
            <a:r>
              <a:rPr lang="fr-FR" sz="2400" dirty="0"/>
              <a:t> motive practice </a:t>
            </a:r>
            <a:r>
              <a:rPr lang="fr-FR" sz="2400" dirty="0" err="1"/>
              <a:t>sau</a:t>
            </a:r>
            <a:r>
              <a:rPr lang="fr-FR" sz="2400" dirty="0"/>
              <a:t> de </a:t>
            </a:r>
            <a:r>
              <a:rPr lang="fr-FR" sz="2400" dirty="0" err="1"/>
              <a:t>confidențialitate</a:t>
            </a:r>
            <a:r>
              <a:rPr lang="fr-FR" sz="2400" dirty="0"/>
              <a:t>) </a:t>
            </a:r>
            <a:r>
              <a:rPr lang="fr-FR" sz="2400" dirty="0" err="1"/>
              <a:t>sunt</a:t>
            </a:r>
            <a:r>
              <a:rPr lang="fr-FR" sz="2400" dirty="0"/>
              <a:t> mai </a:t>
            </a:r>
            <a:r>
              <a:rPr lang="fr-FR" sz="2400" dirty="0" err="1"/>
              <a:t>puțin</a:t>
            </a:r>
            <a:r>
              <a:rPr lang="fr-FR" sz="2400" dirty="0"/>
              <a:t> complexe (au </a:t>
            </a:r>
            <a:r>
              <a:rPr lang="fr-FR" sz="2400" dirty="0" err="1"/>
              <a:t>sub</a:t>
            </a:r>
            <a:r>
              <a:rPr lang="fr-FR" sz="2400" dirty="0"/>
              <a:t> 10 </a:t>
            </a:r>
            <a:r>
              <a:rPr lang="fr-FR" sz="2400" dirty="0" err="1"/>
              <a:t>caracteristici</a:t>
            </a:r>
            <a:r>
              <a:rPr lang="fr-FR" sz="2400" dirty="0"/>
              <a:t>)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Generalitate</a:t>
            </a:r>
            <a:r>
              <a:rPr lang="en-US" sz="2400" dirty="0"/>
              <a:t>: Prin </a:t>
            </a:r>
            <a:r>
              <a:rPr lang="en-US" sz="2400" dirty="0" err="1"/>
              <a:t>utilizarea</a:t>
            </a:r>
            <a:r>
              <a:rPr lang="en-US" sz="2400" dirty="0"/>
              <a:t> de </a:t>
            </a:r>
            <a:r>
              <a:rPr lang="en-US" sz="2400" dirty="0" err="1"/>
              <a:t>vectori</a:t>
            </a:r>
            <a:r>
              <a:rPr lang="en-US" sz="2400" dirty="0"/>
              <a:t> </a:t>
            </a:r>
            <a:r>
              <a:rPr lang="en-US" sz="2400" dirty="0" err="1"/>
              <a:t>numerici</a:t>
            </a:r>
            <a:r>
              <a:rPr lang="en-US" sz="2400" dirty="0"/>
              <a:t> </a:t>
            </a:r>
            <a:r>
              <a:rPr lang="en-US" sz="2400" dirty="0" err="1"/>
              <a:t>generici</a:t>
            </a:r>
            <a:r>
              <a:rPr lang="en-US" sz="2400" dirty="0"/>
              <a:t>, </a:t>
            </a:r>
            <a:r>
              <a:rPr lang="en-US" sz="2400" dirty="0" err="1"/>
              <a:t>modelul</a:t>
            </a:r>
            <a:r>
              <a:rPr lang="en-US" sz="2400" dirty="0"/>
              <a:t> </a:t>
            </a:r>
            <a:r>
              <a:rPr lang="en-US" sz="2400" dirty="0" err="1"/>
              <a:t>devine</a:t>
            </a:r>
            <a:r>
              <a:rPr lang="en-US" sz="2400" dirty="0"/>
              <a:t> </a:t>
            </a:r>
            <a:r>
              <a:rPr lang="en-US" sz="2400" dirty="0" err="1"/>
              <a:t>reutilizabil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alte</a:t>
            </a:r>
            <a:r>
              <a:rPr lang="en-US" sz="2400" dirty="0"/>
              <a:t> </a:t>
            </a:r>
            <a:r>
              <a:rPr lang="en-US" sz="2400" dirty="0" err="1"/>
              <a:t>domenii</a:t>
            </a:r>
            <a:r>
              <a:rPr lang="en-US" sz="2400" dirty="0"/>
              <a:t> (non-</a:t>
            </a:r>
            <a:r>
              <a:rPr lang="en-US" sz="2400" dirty="0" err="1"/>
              <a:t>financiare</a:t>
            </a:r>
            <a:r>
              <a:rPr lang="en-US" sz="2400" dirty="0"/>
              <a:t>)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simpla</a:t>
            </a:r>
            <a:r>
              <a:rPr lang="en-US" sz="2400" dirty="0"/>
              <a:t> </a:t>
            </a:r>
            <a:r>
              <a:rPr lang="en-US" sz="2400" dirty="0" err="1"/>
              <a:t>schimbare</a:t>
            </a:r>
            <a:r>
              <a:rPr lang="en-US" sz="2400" dirty="0"/>
              <a:t> a </a:t>
            </a:r>
            <a:r>
              <a:rPr lang="en-US" sz="2400" dirty="0" err="1"/>
              <a:t>logicii</a:t>
            </a:r>
            <a:r>
              <a:rPr lang="en-US" sz="2400" dirty="0"/>
              <a:t> de </a:t>
            </a:r>
            <a:r>
              <a:rPr lang="en-US" sz="2400" dirty="0" err="1"/>
              <a:t>mapare</a:t>
            </a:r>
            <a:r>
              <a:rPr lang="en-US" sz="2400" dirty="0"/>
              <a:t> din Java.</a:t>
            </a:r>
          </a:p>
        </p:txBody>
      </p:sp>
    </p:spTree>
    <p:extLst>
      <p:ext uri="{BB962C8B-B14F-4D97-AF65-F5344CB8AC3E}">
        <p14:creationId xmlns:p14="http://schemas.microsoft.com/office/powerpoint/2010/main" val="348209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4BEC-2BA2-8B52-9B50-2572A97A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6009-252A-2DAA-90C7-561024B7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de date </a:t>
            </a:r>
            <a:r>
              <a:rPr lang="en-US" dirty="0" err="1"/>
              <a:t>sintetice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5A858C-14FF-4541-2482-AEB24BBC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6" y="2152650"/>
            <a:ext cx="9130430" cy="3500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1030D2-2827-4661-01D9-D875A720D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342" y="2152650"/>
            <a:ext cx="2086266" cy="349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30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A920C-70A2-6EA1-182C-C527648A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6C76-CB9E-8315-35F0-D625315A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dirty="0" err="1"/>
              <a:t>Inversa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491E-32F3-FF34-B297-D9E5DA14F5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Arhitectura</a:t>
            </a:r>
            <a:r>
              <a:rPr lang="en-US" sz="2400" dirty="0"/>
              <a:t> </a:t>
            </a:r>
            <a:r>
              <a:rPr lang="en-US" sz="2400" dirty="0" err="1"/>
              <a:t>initiala</a:t>
            </a:r>
            <a:r>
              <a:rPr lang="en-US" sz="2400" dirty="0"/>
              <a:t> a </a:t>
            </a:r>
            <a:r>
              <a:rPr lang="en-US" sz="2400" dirty="0" err="1"/>
              <a:t>avut</a:t>
            </a:r>
            <a:r>
              <a:rPr lang="en-US" sz="2400" dirty="0"/>
              <a:t> in plan o </a:t>
            </a:r>
            <a:r>
              <a:rPr lang="en-US" sz="2400" dirty="0" err="1"/>
              <a:t>mapare</a:t>
            </a:r>
            <a:r>
              <a:rPr lang="en-US" sz="2400" dirty="0"/>
              <a:t> </a:t>
            </a:r>
            <a:r>
              <a:rPr lang="en-US" sz="2400" dirty="0" err="1"/>
              <a:t>inversa</a:t>
            </a:r>
            <a:r>
              <a:rPr lang="en-US" sz="2400" dirty="0"/>
              <a:t> din date </a:t>
            </a:r>
            <a:r>
              <a:rPr lang="en-US" sz="2400" dirty="0" err="1"/>
              <a:t>reale</a:t>
            </a:r>
            <a:r>
              <a:rPr lang="en-US" sz="2400" dirty="0"/>
              <a:t> in date </a:t>
            </a:r>
            <a:r>
              <a:rPr lang="en-US" sz="2400" dirty="0" err="1"/>
              <a:t>sintetice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antrenarea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. S-a </a:t>
            </a:r>
            <a:r>
              <a:rPr lang="en-US" sz="2400" dirty="0" err="1"/>
              <a:t>renuntat</a:t>
            </a:r>
            <a:r>
              <a:rPr lang="en-US" sz="2400" dirty="0"/>
              <a:t> la </a:t>
            </a:r>
            <a:r>
              <a:rPr lang="en-US" sz="2400" dirty="0" err="1"/>
              <a:t>acest</a:t>
            </a:r>
            <a:r>
              <a:rPr lang="en-US" sz="2400" dirty="0"/>
              <a:t> pas </a:t>
            </a:r>
            <a:r>
              <a:rPr lang="en-US" sz="2400" dirty="0" err="1"/>
              <a:t>datorita</a:t>
            </a:r>
            <a:r>
              <a:rPr lang="en-US" sz="2400" dirty="0"/>
              <a:t> </a:t>
            </a:r>
            <a:r>
              <a:rPr lang="en-US" sz="2400" dirty="0" err="1"/>
              <a:t>surselor</a:t>
            </a:r>
            <a:r>
              <a:rPr lang="en-US" sz="2400" dirty="0"/>
              <a:t> de date </a:t>
            </a:r>
            <a:r>
              <a:rPr lang="en-US" sz="2400" dirty="0" err="1"/>
              <a:t>reale</a:t>
            </a:r>
            <a:r>
              <a:rPr lang="en-US" sz="2400" dirty="0"/>
              <a:t> </a:t>
            </a:r>
            <a:r>
              <a:rPr lang="en-US" sz="2400" dirty="0" err="1"/>
              <a:t>nesatifacatorii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Această</a:t>
            </a:r>
            <a:r>
              <a:rPr lang="en-US" sz="2400" dirty="0"/>
              <a:t> </a:t>
            </a:r>
            <a:r>
              <a:rPr lang="en-US" sz="2400" dirty="0" err="1"/>
              <a:t>clasă</a:t>
            </a:r>
            <a:r>
              <a:rPr lang="en-US" sz="2400" dirty="0"/>
              <a:t> </a:t>
            </a:r>
            <a:r>
              <a:rPr lang="en-US" sz="2400" dirty="0" err="1"/>
              <a:t>realizează</a:t>
            </a:r>
            <a:r>
              <a:rPr lang="en-US" sz="2400" dirty="0"/>
              <a:t> </a:t>
            </a:r>
            <a:r>
              <a:rPr lang="en-US" sz="2400" dirty="0" err="1"/>
              <a:t>maparea</a:t>
            </a:r>
            <a:r>
              <a:rPr lang="en-US" sz="2400" dirty="0"/>
              <a:t> </a:t>
            </a:r>
            <a:r>
              <a:rPr lang="en-US" sz="2400" dirty="0" err="1"/>
              <a:t>inversă</a:t>
            </a:r>
            <a:r>
              <a:rPr lang="en-US" sz="2400" dirty="0"/>
              <a:t>: </a:t>
            </a:r>
            <a:r>
              <a:rPr lang="en-US" sz="2400" dirty="0" err="1"/>
              <a:t>convertește</a:t>
            </a:r>
            <a:r>
              <a:rPr lang="en-US" sz="2400" dirty="0"/>
              <a:t> o </a:t>
            </a:r>
            <a:r>
              <a:rPr lang="en-US" sz="2400" dirty="0" err="1"/>
              <a:t>tranzacție</a:t>
            </a:r>
            <a:r>
              <a:rPr lang="en-US" sz="2400" dirty="0"/>
              <a:t> </a:t>
            </a:r>
            <a:r>
              <a:rPr lang="en-US" sz="2400" dirty="0" err="1"/>
              <a:t>lizibilă</a:t>
            </a:r>
            <a:r>
              <a:rPr lang="en-US" sz="2400" dirty="0"/>
              <a:t> (</a:t>
            </a:r>
            <a:r>
              <a:rPr lang="en-US" sz="2400" dirty="0" err="1"/>
              <a:t>TransactionDTO</a:t>
            </a:r>
            <a:r>
              <a:rPr lang="en-US" sz="2400" dirty="0"/>
              <a:t>)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formatul</a:t>
            </a:r>
            <a:r>
              <a:rPr lang="en-US" sz="2400" dirty="0"/>
              <a:t> numeric brut (</a:t>
            </a:r>
            <a:r>
              <a:rPr lang="en-US" sz="2400" dirty="0" err="1"/>
              <a:t>SyntheticTransaction</a:t>
            </a:r>
            <a:r>
              <a:rPr lang="en-US" sz="2400" dirty="0"/>
              <a:t>) </a:t>
            </a:r>
            <a:r>
              <a:rPr lang="en-US" sz="2400" dirty="0" err="1"/>
              <a:t>necesar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 GAN.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Rol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Mecanism</a:t>
            </a:r>
            <a:endParaRPr lang="en-US" sz="2400" dirty="0"/>
          </a:p>
          <a:p>
            <a:pPr marL="800100" lvl="2" indent="-342900"/>
            <a:r>
              <a:rPr lang="en-US" sz="2400" dirty="0" err="1"/>
              <a:t>Produs</a:t>
            </a:r>
            <a:r>
              <a:rPr lang="en-US" sz="2400" dirty="0"/>
              <a:t>: </a:t>
            </a:r>
            <a:r>
              <a:rPr lang="en-US" sz="2400" dirty="0" err="1"/>
              <a:t>Mapează</a:t>
            </a:r>
            <a:r>
              <a:rPr lang="en-US" sz="2400" dirty="0"/>
              <a:t> </a:t>
            </a:r>
            <a:r>
              <a:rPr lang="en-US" sz="2400" dirty="0" err="1"/>
              <a:t>numele</a:t>
            </a:r>
            <a:r>
              <a:rPr lang="en-US" sz="2400" dirty="0"/>
              <a:t> de </a:t>
            </a:r>
            <a:r>
              <a:rPr lang="en-US" sz="2400" dirty="0" err="1"/>
              <a:t>produs</a:t>
            </a:r>
            <a:r>
              <a:rPr lang="en-US" sz="2400" dirty="0"/>
              <a:t> </a:t>
            </a:r>
            <a:r>
              <a:rPr lang="en-US" sz="2400" dirty="0" err="1"/>
              <a:t>înapoi</a:t>
            </a:r>
            <a:r>
              <a:rPr lang="en-US" sz="2400" dirty="0"/>
              <a:t> la un </a:t>
            </a:r>
            <a:r>
              <a:rPr lang="en-US" sz="2400" dirty="0" err="1"/>
              <a:t>productId</a:t>
            </a:r>
            <a:r>
              <a:rPr lang="en-US" sz="2400" dirty="0"/>
              <a:t> numeric, </a:t>
            </a:r>
            <a:r>
              <a:rPr lang="en-US" sz="2400" dirty="0" err="1"/>
              <a:t>aplicând</a:t>
            </a:r>
            <a:r>
              <a:rPr lang="en-US" sz="2400" dirty="0"/>
              <a:t> </a:t>
            </a:r>
            <a:r>
              <a:rPr lang="en-US" sz="2400" dirty="0" err="1"/>
              <a:t>logica</a:t>
            </a:r>
            <a:r>
              <a:rPr lang="en-US" sz="2400" dirty="0"/>
              <a:t> </a:t>
            </a:r>
            <a:r>
              <a:rPr lang="en-US" sz="2400" dirty="0" err="1"/>
              <a:t>inversă</a:t>
            </a:r>
            <a:r>
              <a:rPr lang="en-US" sz="2400" dirty="0"/>
              <a:t> de </a:t>
            </a:r>
            <a:r>
              <a:rPr lang="en-US" sz="2400" dirty="0" err="1"/>
              <a:t>scalare</a:t>
            </a:r>
            <a:r>
              <a:rPr lang="en-US" sz="2400" dirty="0"/>
              <a:t>.</a:t>
            </a:r>
          </a:p>
          <a:p>
            <a:pPr marL="800100" lvl="2" indent="-342900"/>
            <a:r>
              <a:rPr lang="en-US" sz="2400" dirty="0" err="1"/>
              <a:t>Caracteristici</a:t>
            </a:r>
            <a:r>
              <a:rPr lang="en-US" sz="2400" dirty="0"/>
              <a:t>: </a:t>
            </a:r>
            <a:r>
              <a:rPr lang="en-US" sz="2400" dirty="0" err="1"/>
              <a:t>Mapează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categorie</a:t>
            </a:r>
            <a:r>
              <a:rPr lang="en-US" sz="2400" dirty="0"/>
              <a:t> (String) </a:t>
            </a:r>
            <a:r>
              <a:rPr lang="en-US" sz="2400" dirty="0" err="1"/>
              <a:t>înapoi</a:t>
            </a:r>
            <a:r>
              <a:rPr lang="en-US" sz="2400" dirty="0"/>
              <a:t> la o </a:t>
            </a:r>
            <a:r>
              <a:rPr lang="en-US" sz="2400" dirty="0" err="1"/>
              <a:t>valoare</a:t>
            </a:r>
            <a:r>
              <a:rPr lang="en-US" sz="2400" dirty="0"/>
              <a:t> </a:t>
            </a:r>
            <a:r>
              <a:rPr lang="en-US" sz="2400" dirty="0" err="1"/>
              <a:t>flotantă</a:t>
            </a:r>
            <a:r>
              <a:rPr lang="en-US" sz="2400" dirty="0"/>
              <a:t> </a:t>
            </a:r>
            <a:r>
              <a:rPr lang="en-US" sz="2400" dirty="0" err="1"/>
              <a:t>continuă</a:t>
            </a:r>
            <a:r>
              <a:rPr lang="en-US" sz="2400" dirty="0"/>
              <a:t> (float) </a:t>
            </a:r>
            <a:r>
              <a:rPr lang="en-US" sz="2400" dirty="0" err="1"/>
              <a:t>utilizând</a:t>
            </a:r>
            <a:r>
              <a:rPr lang="en-US" sz="2400" dirty="0"/>
              <a:t> </a:t>
            </a:r>
            <a:r>
              <a:rPr lang="en-US" sz="2400" dirty="0" err="1"/>
              <a:t>punctul</a:t>
            </a:r>
            <a:r>
              <a:rPr lang="en-US" sz="2400" dirty="0"/>
              <a:t> de </a:t>
            </a:r>
            <a:r>
              <a:rPr lang="en-US" sz="2400" dirty="0" err="1"/>
              <a:t>mijloc</a:t>
            </a:r>
            <a:r>
              <a:rPr lang="en-US" sz="2400" dirty="0"/>
              <a:t> (midpoint) al </a:t>
            </a:r>
            <a:r>
              <a:rPr lang="en-US" sz="2400" dirty="0" err="1"/>
              <a:t>intervalului</a:t>
            </a:r>
            <a:r>
              <a:rPr lang="en-US" sz="2400" dirty="0"/>
              <a:t> </a:t>
            </a:r>
            <a:r>
              <a:rPr lang="en-US" sz="2400" dirty="0" err="1"/>
              <a:t>său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spațiul</a:t>
            </a:r>
            <a:r>
              <a:rPr lang="en-US" sz="2400" dirty="0"/>
              <a:t> GAN (</a:t>
            </a:r>
            <a:r>
              <a:rPr lang="en-US" sz="2400" dirty="0" err="1"/>
              <a:t>între</a:t>
            </a:r>
            <a:r>
              <a:rPr lang="en-US" sz="2400" dirty="0"/>
              <a:t> -1.0 </a:t>
            </a:r>
            <a:r>
              <a:rPr lang="en-US" sz="2400" dirty="0" err="1"/>
              <a:t>și</a:t>
            </a:r>
            <a:r>
              <a:rPr lang="en-US" sz="2400" dirty="0"/>
              <a:t> 1.0).</a:t>
            </a:r>
          </a:p>
        </p:txBody>
      </p:sp>
    </p:spTree>
    <p:extLst>
      <p:ext uri="{BB962C8B-B14F-4D97-AF65-F5344CB8AC3E}">
        <p14:creationId xmlns:p14="http://schemas.microsoft.com/office/powerpoint/2010/main" val="2380245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D6D6-F492-950C-124C-D361DA86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mapper invers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A79997-0F83-8DAD-D608-1BB2A2146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78796"/>
            <a:ext cx="4768630" cy="4779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F5A218-D67A-F054-8E7C-6A8CE4ACB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5049"/>
            <a:ext cx="5566787" cy="358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1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AD677-0AE6-CCAE-F2C8-6D27E727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E47AF-D318-7AC4-0CA1-DBF5BD0F5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4560" y="1239078"/>
            <a:ext cx="7802880" cy="323154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Instructiuni de </a:t>
            </a:r>
            <a:r>
              <a:rPr lang="en-US" sz="6600" dirty="0" err="1">
                <a:solidFill>
                  <a:schemeClr val="tx2"/>
                </a:solidFill>
              </a:rPr>
              <a:t>utilizare</a:t>
            </a:r>
            <a:endParaRPr lang="en-US" sz="6600" dirty="0">
              <a:solidFill>
                <a:schemeClr val="tx2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2" y="19556"/>
            <a:ext cx="8547253" cy="23223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1" y="0"/>
            <a:ext cx="1461005" cy="46177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935720" y="3957320"/>
            <a:ext cx="3272713" cy="29006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3326" y="0"/>
            <a:ext cx="1332509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37960" y="0"/>
            <a:ext cx="5654039" cy="220625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5196840"/>
            <a:ext cx="5181599" cy="16416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862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B87F-B57D-80F4-9B14-1442AC38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4DEC-57DA-46EC-263A-5773F5D1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Instructiuni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841E-A6DD-7DE9-2AF3-639EC73482E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Prin Api call </a:t>
            </a:r>
            <a:r>
              <a:rPr lang="en-US" sz="2400" dirty="0" err="1"/>
              <a:t>catre</a:t>
            </a:r>
            <a:r>
              <a:rPr lang="en-US" sz="2400" dirty="0"/>
              <a:t> back-end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POST </a:t>
            </a:r>
            <a:r>
              <a:rPr lang="en-US" sz="2400" dirty="0" err="1"/>
              <a:t>deoarece</a:t>
            </a:r>
            <a:r>
              <a:rPr lang="en-US" sz="2400" dirty="0"/>
              <a:t> </a:t>
            </a:r>
            <a:r>
              <a:rPr lang="en-US" sz="2400" dirty="0" err="1"/>
              <a:t>avem</a:t>
            </a:r>
            <a:r>
              <a:rPr lang="en-US" sz="2400" dirty="0"/>
              <a:t> </a:t>
            </a:r>
            <a:r>
              <a:rPr lang="en-US" sz="2400" dirty="0" err="1"/>
              <a:t>nevoie</a:t>
            </a:r>
            <a:r>
              <a:rPr lang="en-US" sz="2400" dirty="0"/>
              <a:t> de un body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specifica</a:t>
            </a:r>
            <a:r>
              <a:rPr lang="en-US" sz="2400" dirty="0"/>
              <a:t> </a:t>
            </a:r>
            <a:r>
              <a:rPr lang="en-US" sz="2400" dirty="0" err="1"/>
              <a:t>produsele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caracteristicile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URL-</a:t>
            </a:r>
            <a:r>
              <a:rPr lang="en-US" sz="2400" dirty="0" err="1"/>
              <a:t>uri</a:t>
            </a:r>
            <a:r>
              <a:rPr lang="en-US" sz="2400" dirty="0"/>
              <a:t>:</a:t>
            </a:r>
          </a:p>
          <a:p>
            <a:pPr marL="800100" lvl="2" indent="-342900"/>
            <a:r>
              <a:rPr lang="nn-NO" dirty="0"/>
              <a:t>POST </a:t>
            </a:r>
            <a:r>
              <a:rPr lang="nn-NO" dirty="0">
                <a:hlinkClick r:id="rId2"/>
              </a:rPr>
              <a:t>http://localhost:8080/api/transactions</a:t>
            </a:r>
            <a:r>
              <a:rPr lang="nn-NO" dirty="0"/>
              <a:t> - folosit pentru a genera continutul</a:t>
            </a:r>
            <a:br>
              <a:rPr lang="nn-NO" dirty="0"/>
            </a:br>
            <a:endParaRPr lang="nn-NO" dirty="0"/>
          </a:p>
          <a:p>
            <a:pPr marL="800100" lvl="2" indent="-342900"/>
            <a:r>
              <a:rPr lang="nn-NO" dirty="0"/>
              <a:t>POST </a:t>
            </a:r>
            <a:r>
              <a:rPr lang="nn-NO" strike="sngStrike" dirty="0">
                <a:hlinkClick r:id="rId3"/>
              </a:rPr>
              <a:t>http://localhost:8080/api/transactions/raw-convert</a:t>
            </a:r>
            <a:r>
              <a:rPr lang="nn-NO" strike="sngStrike" dirty="0"/>
              <a:t> </a:t>
            </a:r>
            <a:r>
              <a:rPr lang="nn-NO" dirty="0"/>
              <a:t>- folosit pentru a mapa date reale catre date sintetice, nu mai este folosit</a:t>
            </a:r>
            <a:br>
              <a:rPr lang="nn-NO" dirty="0"/>
            </a:br>
            <a:endParaRPr lang="nn-NO" dirty="0"/>
          </a:p>
          <a:p>
            <a:pPr marL="800100" lvl="2" indent="-34290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0921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1ECD9-5BDA-83B7-690C-2398C1D3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2171661-0838-4942-A149-8C1B78926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1D175-4B83-7AD6-48F0-E87368B1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6" y="533400"/>
            <a:ext cx="4529138" cy="16716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Exemplu</a:t>
            </a:r>
            <a:r>
              <a:rPr lang="en-US" sz="4400" dirty="0"/>
              <a:t> de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8905-0B9C-6B42-4C11-C9C3789D9F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04900" y="2205038"/>
            <a:ext cx="4405314" cy="4119561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Type </a:t>
            </a:r>
            <a:r>
              <a:rPr lang="en-US" dirty="0" err="1"/>
              <a:t>poate</a:t>
            </a:r>
            <a:r>
              <a:rPr lang="en-US" dirty="0"/>
              <a:t> fi: LABEL, PHONE_NUMBER, DATE, NUMBER </a:t>
            </a:r>
            <a:r>
              <a:rPr lang="en-US" dirty="0" err="1"/>
              <a:t>sau</a:t>
            </a:r>
            <a:r>
              <a:rPr lang="en-US" dirty="0"/>
              <a:t> CARD_NUMBER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Values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ca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label,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/>
              <a:t>superioare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date </a:t>
            </a:r>
            <a:r>
              <a:rPr lang="en-US" dirty="0" err="1"/>
              <a:t>si</a:t>
            </a:r>
            <a:r>
              <a:rPr lang="en-US" dirty="0"/>
              <a:t> number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Number </a:t>
            </a:r>
            <a:r>
              <a:rPr lang="en-US" dirty="0" err="1"/>
              <a:t>foloseste</a:t>
            </a:r>
            <a:r>
              <a:rPr lang="en-US" dirty="0"/>
              <a:t> a 3a </a:t>
            </a:r>
            <a:r>
              <a:rPr lang="en-US" dirty="0" err="1"/>
              <a:t>valoare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precizie</a:t>
            </a:r>
            <a:endParaRPr lang="en-US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Product names sunt </a:t>
            </a:r>
            <a:r>
              <a:rPr lang="en-US" dirty="0" err="1"/>
              <a:t>stringuri</a:t>
            </a:r>
            <a:br>
              <a:rPr lang="en-US" dirty="0"/>
            </a:br>
            <a:endParaRPr lang="en-US" dirty="0"/>
          </a:p>
          <a:p>
            <a:pPr marL="800100" lvl="2"/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04A404-AF1E-4EC9-AF7D-46C68BFCE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874503-FE8B-408C-ABAF-2B72BAC2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BD857A7-1444-6FB1-5288-FD698CCC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904971"/>
            <a:ext cx="5562600" cy="504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4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1D8B8-E089-D338-7FE1-802547C3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A32390-573F-DB22-52A2-4AA193A9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4B5C95-142B-1FC1-9305-8B639486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9C39F8-72B2-908E-739F-D2414AA9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77B95B-09F5-4C6B-5C6B-61DA2B38D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15F9BE-736E-E783-4C6D-5C9553BAF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706FDC-7CDF-1484-1118-1CF98AD3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30D5C2-9C71-9A3D-EA77-CC1B0D428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F8DBC2-175D-10ED-36DE-20B7EA46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4C6CD-EAE3-5399-CE61-C87C2D6C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6" y="533400"/>
            <a:ext cx="4529138" cy="16716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Exemplu</a:t>
            </a:r>
            <a:r>
              <a:rPr lang="en-US" sz="4400" dirty="0"/>
              <a:t> de </a:t>
            </a:r>
            <a:r>
              <a:rPr lang="en-US" sz="4400" dirty="0" err="1"/>
              <a:t>raspuns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732E1-91D3-3876-D926-4FC07C2E542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04900" y="2205038"/>
            <a:ext cx="4405314" cy="4119561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dirty="0" err="1"/>
              <a:t>Raspunsul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fi </a:t>
            </a:r>
            <a:r>
              <a:rPr lang="en-US" sz="2800" dirty="0" err="1"/>
              <a:t>numele</a:t>
            </a:r>
            <a:r>
              <a:rPr lang="en-US" sz="2800" dirty="0"/>
              <a:t> csv-</a:t>
            </a:r>
            <a:r>
              <a:rPr lang="en-US" sz="2800" dirty="0" err="1"/>
              <a:t>ului</a:t>
            </a:r>
            <a:endParaRPr lang="en-US" sz="28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dirty="0" err="1"/>
              <a:t>Pentru</a:t>
            </a:r>
            <a:r>
              <a:rPr lang="en-US" sz="2800" dirty="0"/>
              <a:t> a </a:t>
            </a:r>
            <a:r>
              <a:rPr lang="en-US" sz="2800" dirty="0" err="1"/>
              <a:t>gasi</a:t>
            </a:r>
            <a:r>
              <a:rPr lang="en-US" sz="2800" dirty="0"/>
              <a:t> csv-ul </a:t>
            </a:r>
            <a:r>
              <a:rPr lang="en-US" sz="2800" dirty="0" err="1"/>
              <a:t>vom</a:t>
            </a:r>
            <a:r>
              <a:rPr lang="en-US" sz="2800" dirty="0"/>
              <a:t> </a:t>
            </a:r>
            <a:r>
              <a:rPr lang="en-US" sz="2800" dirty="0" err="1"/>
              <a:t>naviga</a:t>
            </a:r>
            <a:r>
              <a:rPr lang="en-US" sz="2800" dirty="0"/>
              <a:t> </a:t>
            </a:r>
            <a:r>
              <a:rPr lang="en-US" sz="2800" dirty="0" err="1"/>
              <a:t>catre</a:t>
            </a:r>
            <a:r>
              <a:rPr lang="en-US" sz="2800" dirty="0"/>
              <a:t> </a:t>
            </a:r>
            <a:r>
              <a:rPr lang="en-US" sz="2800" dirty="0" err="1"/>
              <a:t>folderul</a:t>
            </a:r>
            <a:r>
              <a:rPr lang="en-US" sz="2800" dirty="0"/>
              <a:t> </a:t>
            </a:r>
            <a:r>
              <a:rPr lang="en-US" sz="2800" dirty="0" err="1"/>
              <a:t>generated_files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vom</a:t>
            </a:r>
            <a:r>
              <a:rPr lang="en-US" sz="2800" dirty="0"/>
              <a:t> </a:t>
            </a:r>
            <a:r>
              <a:rPr lang="en-US" sz="2800" dirty="0" err="1"/>
              <a:t>gasi</a:t>
            </a:r>
            <a:r>
              <a:rPr lang="en-US" sz="2800" dirty="0"/>
              <a:t> </a:t>
            </a:r>
            <a:r>
              <a:rPr lang="en-US" sz="2800" dirty="0" err="1"/>
              <a:t>documentul</a:t>
            </a:r>
            <a:r>
              <a:rPr lang="en-US" sz="2800" dirty="0"/>
              <a:t> </a:t>
            </a:r>
            <a:r>
              <a:rPr lang="en-US" sz="2800" dirty="0" err="1"/>
              <a:t>cvs</a:t>
            </a:r>
            <a:r>
              <a:rPr lang="en-US" sz="2800" dirty="0"/>
              <a:t> </a:t>
            </a:r>
            <a:r>
              <a:rPr lang="en-US" sz="2800" dirty="0" err="1"/>
              <a:t>generat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  <a:p>
            <a:pPr marL="800100" lvl="2"/>
            <a:endParaRPr lang="en-US" sz="28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757E09-9AE5-A6AA-E6D4-4BDED5462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9899C1-A98C-7C5C-1574-5EA807E2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EEFF763-5EE3-9B83-591B-11A81652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577" y="2690707"/>
            <a:ext cx="521090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92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F841-44F2-F9DF-4CA3-B1BEBD16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E381E4-6402-BDA7-0ADF-23E8F891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 err="1"/>
              <a:t>Evaluare</a:t>
            </a: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2C815F6F-D11C-2C9D-3D81-B2EB2DA96E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2144895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36A1-B250-43E2-68A2-75662BB5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8650-F836-BA92-FAE6-35020BDF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Invatare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CA0B12-15AD-7B38-6C98-E832A912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03" y="2142977"/>
            <a:ext cx="6763694" cy="2114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DA0455-7268-1036-4870-96786AE64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903" y="4485242"/>
            <a:ext cx="689706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57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5A94-5265-E743-834C-56524E92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40F7-0D6E-BCEF-4F89-AAC1C398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Invatare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DADD7-4788-2A57-9AE7-D969E39CB28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Cel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semnificativ</a:t>
            </a:r>
            <a:r>
              <a:rPr lang="en-US" sz="2400" dirty="0"/>
              <a:t> </a:t>
            </a:r>
            <a:r>
              <a:rPr lang="en-US" sz="2400" dirty="0" err="1"/>
              <a:t>rezultat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îmbunătățirea</a:t>
            </a:r>
            <a:r>
              <a:rPr lang="en-US" sz="2400" dirty="0"/>
              <a:t> </a:t>
            </a:r>
            <a:r>
              <a:rPr lang="en-US" sz="2400" dirty="0" err="1"/>
              <a:t>pierderii</a:t>
            </a:r>
            <a:r>
              <a:rPr lang="en-US" sz="2400" dirty="0"/>
              <a:t> de </a:t>
            </a:r>
            <a:r>
              <a:rPr lang="en-US" sz="2400" dirty="0" err="1"/>
              <a:t>eroare</a:t>
            </a:r>
            <a:r>
              <a:rPr lang="en-US" sz="2400" dirty="0"/>
              <a:t> </a:t>
            </a:r>
            <a:r>
              <a:rPr lang="en-US" sz="2400" dirty="0" err="1"/>
              <a:t>pătratică</a:t>
            </a:r>
            <a:r>
              <a:rPr lang="en-US" sz="2400" dirty="0"/>
              <a:t> </a:t>
            </a:r>
            <a:r>
              <a:rPr lang="en-US" sz="2400" dirty="0" err="1"/>
              <a:t>medie</a:t>
            </a:r>
            <a:r>
              <a:rPr lang="en-US" sz="2400" dirty="0"/>
              <a:t> pe </a:t>
            </a:r>
            <a:r>
              <a:rPr lang="en-US" sz="2400" dirty="0" err="1"/>
              <a:t>coloana</a:t>
            </a:r>
            <a:r>
              <a:rPr lang="en-US" sz="2400" dirty="0"/>
              <a:t> 'Quantity' (MSE_Q).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măsoară</a:t>
            </a:r>
            <a:r>
              <a:rPr lang="en-US" sz="2400" dirty="0"/>
              <a:t> </a:t>
            </a:r>
            <a:r>
              <a:rPr lang="en-US" sz="2400" dirty="0" err="1"/>
              <a:t>precizia</a:t>
            </a:r>
            <a:r>
              <a:rPr lang="en-US" sz="2400" dirty="0"/>
              <a:t> cu care </a:t>
            </a:r>
            <a:r>
              <a:rPr lang="en-US" sz="2400" dirty="0" err="1"/>
              <a:t>generatorul</a:t>
            </a:r>
            <a:r>
              <a:rPr lang="en-US" sz="2400" dirty="0"/>
              <a:t> re-</a:t>
            </a:r>
            <a:r>
              <a:rPr lang="en-US" sz="2400" dirty="0" err="1"/>
              <a:t>creează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de </a:t>
            </a:r>
            <a:r>
              <a:rPr lang="en-US" sz="2400" dirty="0" err="1"/>
              <a:t>intrare</a:t>
            </a:r>
            <a:r>
              <a:rPr lang="en-US" sz="2400" dirty="0"/>
              <a:t>:</a:t>
            </a:r>
          </a:p>
          <a:p>
            <a:pPr marL="800100" lvl="2" indent="-342900"/>
            <a:r>
              <a:rPr lang="en-US" sz="2400" dirty="0"/>
              <a:t>Start (Epoca 1): MSE_Q = 1.0889</a:t>
            </a:r>
          </a:p>
          <a:p>
            <a:pPr marL="800100" lvl="2" indent="-342900"/>
            <a:r>
              <a:rPr lang="en-US" sz="2400" dirty="0"/>
              <a:t>Final (Epoca 100): MSE_Q = 0.0587</a:t>
            </a:r>
          </a:p>
          <a:p>
            <a:pPr marL="800100" lvl="2" indent="-342900"/>
            <a:r>
              <a:rPr lang="en-US" sz="2400" dirty="0"/>
              <a:t>Minim: MSE_Q = 0.0234 (</a:t>
            </a:r>
            <a:r>
              <a:rPr lang="en-US" sz="2400" dirty="0" err="1"/>
              <a:t>atins</a:t>
            </a:r>
            <a:r>
              <a:rPr lang="en-US" sz="2400" dirty="0"/>
              <a:t> in Epoca 91)</a:t>
            </a:r>
          </a:p>
          <a:p>
            <a:pPr lvl="2" indent="0">
              <a:buNone/>
            </a:pPr>
            <a:r>
              <a:rPr lang="en-US" sz="2400" dirty="0"/>
              <a:t>O </a:t>
            </a:r>
            <a:r>
              <a:rPr lang="en-US" sz="2400" dirty="0" err="1"/>
              <a:t>scădere</a:t>
            </a:r>
            <a:r>
              <a:rPr lang="en-US" sz="2400" dirty="0"/>
              <a:t> </a:t>
            </a:r>
            <a:r>
              <a:rPr lang="en-US" sz="2400" dirty="0" err="1"/>
              <a:t>atât</a:t>
            </a:r>
            <a:r>
              <a:rPr lang="en-US" sz="2400" dirty="0"/>
              <a:t> de </a:t>
            </a:r>
            <a:r>
              <a:rPr lang="en-US" sz="2400" dirty="0" err="1"/>
              <a:t>dramatică</a:t>
            </a:r>
            <a:r>
              <a:rPr lang="en-US" sz="2400" dirty="0"/>
              <a:t> a MSE_Q </a:t>
            </a:r>
            <a:r>
              <a:rPr lang="en-US" sz="2400" dirty="0" err="1"/>
              <a:t>indică</a:t>
            </a:r>
            <a:r>
              <a:rPr lang="en-US" sz="2400" dirty="0"/>
              <a:t> </a:t>
            </a:r>
            <a:r>
              <a:rPr lang="en-US" sz="2400" dirty="0" err="1"/>
              <a:t>faptul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modelul</a:t>
            </a:r>
            <a:r>
              <a:rPr lang="en-US" sz="2400" dirty="0"/>
              <a:t> (</a:t>
            </a:r>
            <a:r>
              <a:rPr lang="en-US" sz="2400" dirty="0" err="1"/>
              <a:t>Generatorul</a:t>
            </a:r>
            <a:r>
              <a:rPr lang="en-US" sz="2400" dirty="0"/>
              <a:t>) a </a:t>
            </a:r>
            <a:r>
              <a:rPr lang="en-US" sz="2400" dirty="0" err="1"/>
              <a:t>învățat</a:t>
            </a:r>
            <a:r>
              <a:rPr lang="en-US" sz="2400" dirty="0"/>
              <a:t> </a:t>
            </a:r>
            <a:r>
              <a:rPr lang="en-US" sz="2400" dirty="0" err="1"/>
              <a:t>foarte</a:t>
            </a:r>
            <a:r>
              <a:rPr lang="en-US" sz="2400" dirty="0"/>
              <a:t> bine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aproximeze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reconstruiască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coloanei</a:t>
            </a:r>
            <a:r>
              <a:rPr lang="en-US" sz="2400" dirty="0"/>
              <a:t> 'Quantity', </a:t>
            </a:r>
            <a:r>
              <a:rPr lang="en-US" sz="2400" dirty="0" err="1"/>
              <a:t>îndeplinind</a:t>
            </a:r>
            <a:r>
              <a:rPr lang="en-US" sz="2400" dirty="0"/>
              <a:t> </a:t>
            </a:r>
            <a:r>
              <a:rPr lang="en-US" sz="2400" dirty="0" err="1"/>
              <a:t>scopul</a:t>
            </a:r>
            <a:r>
              <a:rPr lang="en-US" sz="2400" dirty="0"/>
              <a:t> de </a:t>
            </a:r>
            <a:r>
              <a:rPr lang="en-US" sz="2400" dirty="0" err="1"/>
              <a:t>bază</a:t>
            </a:r>
            <a:r>
              <a:rPr lang="en-US" sz="2400" dirty="0"/>
              <a:t> al re-</a:t>
            </a:r>
            <a:r>
              <a:rPr lang="en-US" sz="2400" dirty="0" err="1"/>
              <a:t>antrenării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712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8E4D-8A5E-51CE-ED0C-CEE3EFC3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720B-E9D7-1A38-7CAB-9B0C1FE4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Invatare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3A4B-8A27-AA55-5D6C-114E86DE568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Pierderile</a:t>
            </a:r>
            <a:r>
              <a:rPr lang="en-US" sz="2400" dirty="0"/>
              <a:t> </a:t>
            </a:r>
            <a:r>
              <a:rPr lang="en-US" sz="2400" dirty="0" err="1"/>
              <a:t>Discriminatorului</a:t>
            </a:r>
            <a:r>
              <a:rPr lang="en-US" sz="2400" dirty="0"/>
              <a:t> (D Loss) </a:t>
            </a:r>
            <a:r>
              <a:rPr lang="en-US" sz="2400" dirty="0" err="1"/>
              <a:t>și</a:t>
            </a:r>
            <a:r>
              <a:rPr lang="en-US" sz="2400" dirty="0"/>
              <a:t> ale </a:t>
            </a:r>
            <a:r>
              <a:rPr lang="en-US" sz="2400" dirty="0" err="1"/>
              <a:t>Generatorului</a:t>
            </a:r>
            <a:r>
              <a:rPr lang="en-US" sz="2400" dirty="0"/>
              <a:t> (G Loss) </a:t>
            </a:r>
            <a:r>
              <a:rPr lang="en-US" sz="2400" dirty="0" err="1"/>
              <a:t>arată</a:t>
            </a:r>
            <a:r>
              <a:rPr lang="en-US" sz="2400" dirty="0"/>
              <a:t> o </a:t>
            </a:r>
            <a:r>
              <a:rPr lang="en-US" sz="2400" dirty="0" err="1"/>
              <a:t>interacțiune</a:t>
            </a:r>
            <a:r>
              <a:rPr lang="en-US" sz="2400" dirty="0"/>
              <a:t> </a:t>
            </a:r>
            <a:r>
              <a:rPr lang="en-US" sz="2400" dirty="0" err="1"/>
              <a:t>sănătoasă</a:t>
            </a:r>
            <a:r>
              <a:rPr lang="en-US" sz="2400" dirty="0"/>
              <a:t> </a:t>
            </a:r>
            <a:r>
              <a:rPr lang="en-US" sz="2400" dirty="0" err="1"/>
              <a:t>specifică</a:t>
            </a:r>
            <a:r>
              <a:rPr lang="en-US" sz="2400" dirty="0"/>
              <a:t> </a:t>
            </a:r>
            <a:r>
              <a:rPr lang="en-US" sz="2400" dirty="0" err="1"/>
              <a:t>rețelelor</a:t>
            </a:r>
            <a:r>
              <a:rPr lang="en-US" sz="2400" dirty="0"/>
              <a:t> GAN: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Pierderea</a:t>
            </a:r>
            <a:r>
              <a:rPr lang="en-US" sz="2400" dirty="0"/>
              <a:t> </a:t>
            </a:r>
            <a:r>
              <a:rPr lang="en-US" sz="2400" dirty="0" err="1"/>
              <a:t>Discriminatorului</a:t>
            </a:r>
            <a:r>
              <a:rPr lang="en-US" sz="2400" dirty="0"/>
              <a:t> (D Loss): A </a:t>
            </a:r>
            <a:r>
              <a:rPr lang="en-US" sz="2400" dirty="0" err="1"/>
              <a:t>început</a:t>
            </a:r>
            <a:r>
              <a:rPr lang="en-US" sz="2400" dirty="0"/>
              <a:t> de la o </a:t>
            </a:r>
            <a:r>
              <a:rPr lang="en-US" sz="2400" dirty="0" err="1"/>
              <a:t>valoare</a:t>
            </a:r>
            <a:r>
              <a:rPr lang="en-US" sz="2400" dirty="0"/>
              <a:t> </a:t>
            </a:r>
            <a:r>
              <a:rPr lang="en-US" sz="2400" dirty="0" err="1"/>
              <a:t>pozitivă</a:t>
            </a:r>
            <a:r>
              <a:rPr lang="en-US" sz="2400" dirty="0"/>
              <a:t> mare (1.3871) </a:t>
            </a:r>
            <a:r>
              <a:rPr lang="en-US" sz="2400" dirty="0" err="1"/>
              <a:t>și</a:t>
            </a:r>
            <a:r>
              <a:rPr lang="en-US" sz="2400" dirty="0"/>
              <a:t> a </a:t>
            </a:r>
            <a:r>
              <a:rPr lang="en-US" sz="2400" dirty="0" err="1"/>
              <a:t>scăzut</a:t>
            </a:r>
            <a:r>
              <a:rPr lang="en-US" sz="2400" dirty="0"/>
              <a:t> rapid, </a:t>
            </a:r>
            <a:r>
              <a:rPr lang="en-US" sz="2400" dirty="0" err="1"/>
              <a:t>devenind</a:t>
            </a:r>
            <a:r>
              <a:rPr lang="en-US" sz="2400" dirty="0"/>
              <a:t> </a:t>
            </a:r>
            <a:r>
              <a:rPr lang="en-US" sz="2400" dirty="0" err="1"/>
              <a:t>negativă</a:t>
            </a:r>
            <a:r>
              <a:rPr lang="en-US" sz="2400" dirty="0"/>
              <a:t>. A </a:t>
            </a:r>
            <a:r>
              <a:rPr lang="en-US" sz="2400" dirty="0" err="1"/>
              <a:t>atins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mică</a:t>
            </a:r>
            <a:r>
              <a:rPr lang="en-US" sz="2400" dirty="0"/>
              <a:t> (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"</a:t>
            </a:r>
            <a:r>
              <a:rPr lang="en-US" sz="2400" dirty="0" err="1"/>
              <a:t>bună</a:t>
            </a:r>
            <a:r>
              <a:rPr lang="en-US" sz="2400" dirty="0"/>
              <a:t>" </a:t>
            </a:r>
            <a:r>
              <a:rPr lang="en-US" sz="2400" dirty="0" err="1"/>
              <a:t>performanță</a:t>
            </a:r>
            <a:r>
              <a:rPr lang="en-US" sz="2400" dirty="0"/>
              <a:t> a </a:t>
            </a:r>
            <a:r>
              <a:rPr lang="en-US" sz="2400" dirty="0" err="1"/>
              <a:t>Discriminatorului</a:t>
            </a:r>
            <a:r>
              <a:rPr lang="en-US" sz="2400" dirty="0"/>
              <a:t>) de -1.6946 </a:t>
            </a:r>
            <a:r>
              <a:rPr lang="en-US" sz="2400" dirty="0" err="1"/>
              <a:t>în</a:t>
            </a:r>
            <a:r>
              <a:rPr lang="en-US" sz="2400" dirty="0"/>
              <a:t> Epoca 47. Pe </a:t>
            </a:r>
            <a:r>
              <a:rPr lang="en-US" sz="2400" dirty="0" err="1"/>
              <a:t>măsură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antrenamentul</a:t>
            </a:r>
            <a:r>
              <a:rPr lang="en-US" sz="2400" dirty="0"/>
              <a:t> a </a:t>
            </a:r>
            <a:r>
              <a:rPr lang="en-US" sz="2400" dirty="0" err="1"/>
              <a:t>progresat</a:t>
            </a:r>
            <a:r>
              <a:rPr lang="en-US" sz="2400" dirty="0"/>
              <a:t>, </a:t>
            </a:r>
            <a:r>
              <a:rPr lang="en-US" sz="2400" dirty="0" err="1"/>
              <a:t>pierderea</a:t>
            </a:r>
            <a:r>
              <a:rPr lang="en-US" sz="2400" dirty="0"/>
              <a:t> a </a:t>
            </a:r>
            <a:r>
              <a:rPr lang="en-US" sz="2400" dirty="0" err="1"/>
              <a:t>devenit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puțin</a:t>
            </a:r>
            <a:r>
              <a:rPr lang="en-US" sz="2400" dirty="0"/>
              <a:t> </a:t>
            </a:r>
            <a:r>
              <a:rPr lang="en-US" sz="2400" dirty="0" err="1"/>
              <a:t>negativă</a:t>
            </a:r>
            <a:r>
              <a:rPr lang="en-US" sz="2400" dirty="0"/>
              <a:t> (-0.9739 </a:t>
            </a:r>
            <a:r>
              <a:rPr lang="en-US" sz="2400" dirty="0" err="1"/>
              <a:t>în</a:t>
            </a:r>
            <a:r>
              <a:rPr lang="en-US" sz="2400" dirty="0"/>
              <a:t> Epoca 100), </a:t>
            </a:r>
            <a:r>
              <a:rPr lang="en-US" sz="2400" dirty="0" err="1"/>
              <a:t>sugerând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Generatorul</a:t>
            </a:r>
            <a:r>
              <a:rPr lang="en-US" sz="2400" dirty="0"/>
              <a:t> a </a:t>
            </a:r>
            <a:r>
              <a:rPr lang="en-US" sz="2400" dirty="0" err="1"/>
              <a:t>început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producă</a:t>
            </a:r>
            <a:r>
              <a:rPr lang="en-US" sz="2400" dirty="0"/>
              <a:t> date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convingătoare</a:t>
            </a:r>
            <a:r>
              <a:rPr lang="en-US" sz="2400" dirty="0"/>
              <a:t>, </a:t>
            </a:r>
            <a:r>
              <a:rPr lang="en-US" sz="2400" dirty="0" err="1"/>
              <a:t>făcând</a:t>
            </a:r>
            <a:r>
              <a:rPr lang="en-US" sz="2400" dirty="0"/>
              <a:t> </a:t>
            </a:r>
            <a:r>
              <a:rPr lang="en-US" sz="2400" dirty="0" err="1"/>
              <a:t>munca</a:t>
            </a:r>
            <a:r>
              <a:rPr lang="en-US" sz="2400" dirty="0"/>
              <a:t> </a:t>
            </a:r>
            <a:r>
              <a:rPr lang="en-US" sz="2400" dirty="0" err="1"/>
              <a:t>Discriminatorului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dificilă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Pierderea</a:t>
            </a:r>
            <a:r>
              <a:rPr lang="en-US" sz="2400" dirty="0"/>
              <a:t> </a:t>
            </a:r>
            <a:r>
              <a:rPr lang="en-US" sz="2400" dirty="0" err="1"/>
              <a:t>Adversarială</a:t>
            </a:r>
            <a:r>
              <a:rPr lang="en-US" sz="2400" dirty="0"/>
              <a:t> a </a:t>
            </a:r>
            <a:r>
              <a:rPr lang="en-US" sz="2400" dirty="0" err="1"/>
              <a:t>Generatorului</a:t>
            </a:r>
            <a:r>
              <a:rPr lang="en-US" sz="2400" dirty="0"/>
              <a:t> (Adv): </a:t>
            </a:r>
            <a:r>
              <a:rPr lang="en-US" sz="2400" dirty="0" err="1"/>
              <a:t>Această</a:t>
            </a:r>
            <a:r>
              <a:rPr lang="en-US" sz="2400" dirty="0"/>
              <a:t> </a:t>
            </a:r>
            <a:r>
              <a:rPr lang="en-US" sz="2400" dirty="0" err="1"/>
              <a:t>componentă</a:t>
            </a:r>
            <a:r>
              <a:rPr lang="en-US" sz="2400" dirty="0"/>
              <a:t> </a:t>
            </a:r>
            <a:r>
              <a:rPr lang="en-US" sz="2400" dirty="0" err="1"/>
              <a:t>măsoară</a:t>
            </a:r>
            <a:r>
              <a:rPr lang="en-US" sz="2400" dirty="0"/>
              <a:t> </a:t>
            </a:r>
            <a:r>
              <a:rPr lang="en-US" sz="2400" dirty="0" err="1"/>
              <a:t>cât</a:t>
            </a:r>
            <a:r>
              <a:rPr lang="en-US" sz="2400" dirty="0"/>
              <a:t> de bine </a:t>
            </a:r>
            <a:r>
              <a:rPr lang="en-US" sz="2400" dirty="0" err="1"/>
              <a:t>Generatorul</a:t>
            </a:r>
            <a:r>
              <a:rPr lang="en-US" sz="2400" dirty="0"/>
              <a:t> </a:t>
            </a:r>
            <a:r>
              <a:rPr lang="en-US" sz="2400" dirty="0" err="1"/>
              <a:t>reușește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păcălească</a:t>
            </a:r>
            <a:r>
              <a:rPr lang="en-US" sz="2400" dirty="0"/>
              <a:t> </a:t>
            </a:r>
            <a:r>
              <a:rPr lang="en-US" sz="2400" dirty="0" err="1"/>
              <a:t>Discriminatorul</a:t>
            </a:r>
            <a:r>
              <a:rPr lang="en-US" sz="2400" dirty="0"/>
              <a:t>. A </a:t>
            </a:r>
            <a:r>
              <a:rPr lang="en-US" sz="2400" dirty="0" err="1"/>
              <a:t>crescut</a:t>
            </a:r>
            <a:r>
              <a:rPr lang="en-US" sz="2400" dirty="0"/>
              <a:t> constant, de la 0.0966 la </a:t>
            </a:r>
            <a:r>
              <a:rPr lang="en-US" sz="2400" dirty="0" err="1"/>
              <a:t>început</a:t>
            </a:r>
            <a:r>
              <a:rPr lang="en-US" sz="2400" dirty="0"/>
              <a:t>, </a:t>
            </a:r>
            <a:r>
              <a:rPr lang="en-US" sz="2400" dirty="0" err="1"/>
              <a:t>atingând</a:t>
            </a:r>
            <a:r>
              <a:rPr lang="en-US" sz="2400" dirty="0"/>
              <a:t> un </a:t>
            </a:r>
            <a:r>
              <a:rPr lang="en-US" sz="2400" dirty="0" err="1"/>
              <a:t>vârf</a:t>
            </a:r>
            <a:r>
              <a:rPr lang="en-US" sz="2400" dirty="0"/>
              <a:t> de 0.9134 </a:t>
            </a:r>
            <a:r>
              <a:rPr lang="en-US" sz="2400" dirty="0" err="1"/>
              <a:t>în</a:t>
            </a:r>
            <a:r>
              <a:rPr lang="en-US" sz="2400" dirty="0"/>
              <a:t> Epoca 48. La </a:t>
            </a:r>
            <a:r>
              <a:rPr lang="en-US" sz="2400" dirty="0" err="1"/>
              <a:t>finalul</a:t>
            </a:r>
            <a:r>
              <a:rPr lang="en-US" sz="2400" dirty="0"/>
              <a:t> </a:t>
            </a:r>
            <a:r>
              <a:rPr lang="en-US" sz="2400" dirty="0" err="1"/>
              <a:t>antrenamentului</a:t>
            </a:r>
            <a:r>
              <a:rPr lang="en-US" sz="2400" dirty="0"/>
              <a:t> s-a </a:t>
            </a:r>
            <a:r>
              <a:rPr lang="en-US" sz="2400" dirty="0" err="1"/>
              <a:t>menținut</a:t>
            </a:r>
            <a:r>
              <a:rPr lang="en-US" sz="2400" dirty="0"/>
              <a:t> la o </a:t>
            </a:r>
            <a:r>
              <a:rPr lang="en-US" sz="2400" dirty="0" err="1"/>
              <a:t>valoare</a:t>
            </a:r>
            <a:r>
              <a:rPr lang="en-US" sz="2400" dirty="0"/>
              <a:t> </a:t>
            </a:r>
            <a:r>
              <a:rPr lang="en-US" sz="2400" dirty="0" err="1"/>
              <a:t>ridicată</a:t>
            </a:r>
            <a:r>
              <a:rPr lang="en-US" sz="2400" dirty="0"/>
              <a:t> (0.4751), </a:t>
            </a:r>
            <a:r>
              <a:rPr lang="en-US" sz="2400" dirty="0" err="1"/>
              <a:t>confirmând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Generatorul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eficient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a produce date care par </a:t>
            </a:r>
            <a:r>
              <a:rPr lang="en-US" sz="2400" dirty="0" err="1"/>
              <a:t>reale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587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04BF-BAEB-62BE-A623-D74CE498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26AB-8587-B7DA-F27F-1573C71F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Inainte</a:t>
            </a:r>
            <a:r>
              <a:rPr lang="en-US" dirty="0"/>
              <a:t> de </a:t>
            </a:r>
            <a:r>
              <a:rPr lang="en-US" dirty="0" err="1"/>
              <a:t>mapare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F9A7E-DDFE-A022-9300-F27F2D260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2368955"/>
            <a:ext cx="7410450" cy="3205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72E6FE-C080-9205-8E76-C6DA32A4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616" y="2368955"/>
            <a:ext cx="2810267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61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08DD-A866-6D9E-7562-87C92B96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2F23-CDFE-5B0F-9422-585A480E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mapare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3F108-0165-67D3-B426-9874648E9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30" y="2057400"/>
            <a:ext cx="8901745" cy="413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0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88D4-2935-0406-A0B7-AA8D36B8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2C91F1-BF0F-20DA-5060-104B7C83C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 err="1"/>
              <a:t>Discutii</a:t>
            </a: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973FB18-2877-D537-508E-C5B68D4BAE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4005023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8012-AC15-AF54-8B30-AD2F5FF5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42A1-C255-4144-87FB-FD7C4D22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mode </a:t>
            </a:r>
            <a:r>
              <a:rPr lang="en-US" dirty="0" err="1"/>
              <a:t>colapse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F7A2F-9C1D-1169-EA6E-90279A06252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34961" y="2032663"/>
            <a:ext cx="10512743" cy="40674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Modelul</a:t>
            </a:r>
            <a:r>
              <a:rPr lang="en-US" sz="2400" dirty="0"/>
              <a:t> initial s-a </a:t>
            </a:r>
            <a:r>
              <a:rPr lang="en-US" sz="2400" dirty="0" err="1"/>
              <a:t>dortit</a:t>
            </a:r>
            <a:r>
              <a:rPr lang="en-US" sz="2400" dirty="0"/>
              <a:t> a fi CTGAN in </a:t>
            </a:r>
            <a:r>
              <a:rPr lang="en-US" sz="2400" dirty="0" err="1"/>
              <a:t>functie</a:t>
            </a:r>
            <a:r>
              <a:rPr lang="en-US" sz="2400" dirty="0"/>
              <a:t> de </a:t>
            </a:r>
            <a:r>
              <a:rPr lang="en-US" sz="2400" dirty="0" err="1"/>
              <a:t>stoc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produs</a:t>
            </a:r>
            <a:r>
              <a:rPr lang="en-US" sz="2400" dirty="0"/>
              <a:t> </a:t>
            </a:r>
            <a:r>
              <a:rPr lang="en-US" sz="2400" dirty="0" err="1"/>
              <a:t>insa</a:t>
            </a:r>
            <a:r>
              <a:rPr lang="en-US" sz="2400" dirty="0"/>
              <a:t> a </a:t>
            </a:r>
            <a:r>
              <a:rPr lang="en-US" sz="2400" dirty="0" err="1"/>
              <a:t>evoluat</a:t>
            </a:r>
            <a:r>
              <a:rPr lang="en-US" sz="2400" dirty="0"/>
              <a:t> in a </a:t>
            </a:r>
            <a:r>
              <a:rPr lang="en-US" sz="2400" dirty="0" err="1"/>
              <a:t>avea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mute </a:t>
            </a:r>
            <a:r>
              <a:rPr lang="en-US" sz="2400" dirty="0" err="1"/>
              <a:t>dimensiuni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a fi un WGAN-GP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 </a:t>
            </a:r>
            <a:r>
              <a:rPr lang="en-US" sz="2400" dirty="0" err="1"/>
              <a:t>modelul</a:t>
            </a:r>
            <a:r>
              <a:rPr lang="en-US" sz="2400" dirty="0"/>
              <a:t> </a:t>
            </a:r>
            <a:r>
              <a:rPr lang="en-US" sz="2400" dirty="0" err="1"/>
              <a:t>avea</a:t>
            </a: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 de mode collapse </a:t>
            </a:r>
            <a:r>
              <a:rPr lang="en-US" sz="2400" dirty="0" err="1"/>
              <a:t>datorita</a:t>
            </a:r>
            <a:r>
              <a:rPr lang="en-US" sz="2400" dirty="0"/>
              <a:t> </a:t>
            </a:r>
            <a:r>
              <a:rPr lang="en-US" sz="2400" dirty="0" err="1"/>
              <a:t>conditiilor</a:t>
            </a:r>
            <a:r>
              <a:rPr lang="en-US" sz="2400" dirty="0"/>
              <a:t> de </a:t>
            </a:r>
            <a:r>
              <a:rPr lang="en-US" sz="2400" dirty="0" err="1"/>
              <a:t>stoc</a:t>
            </a:r>
            <a:r>
              <a:rPr lang="en-US" sz="2400" dirty="0"/>
              <a:t> care </a:t>
            </a:r>
            <a:r>
              <a:rPr lang="en-US" sz="2400" dirty="0" err="1"/>
              <a:t>influentau</a:t>
            </a:r>
            <a:r>
              <a:rPr lang="en-US" sz="2400" dirty="0"/>
              <a:t> </a:t>
            </a:r>
            <a:r>
              <a:rPr lang="en-US" sz="2400" dirty="0" err="1"/>
              <a:t>cantitatea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scada</a:t>
            </a:r>
            <a:r>
              <a:rPr lang="en-US" sz="2400" dirty="0"/>
              <a:t> dramatic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astfel</a:t>
            </a:r>
            <a:r>
              <a:rPr lang="en-US" sz="2400" dirty="0"/>
              <a:t> </a:t>
            </a:r>
            <a:r>
              <a:rPr lang="en-US" sz="2400" dirty="0" err="1"/>
              <a:t>avand</a:t>
            </a:r>
            <a:r>
              <a:rPr lang="en-US" sz="2400" dirty="0"/>
              <a:t> o </a:t>
            </a:r>
            <a:r>
              <a:rPr lang="en-US" sz="2400" dirty="0" err="1"/>
              <a:t>diversitate</a:t>
            </a:r>
            <a:r>
              <a:rPr lang="en-US" sz="2400" dirty="0"/>
              <a:t> mica (</a:t>
            </a:r>
            <a:r>
              <a:rPr lang="en-US" sz="2400" dirty="0" err="1"/>
              <a:t>aproape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5). Am </a:t>
            </a:r>
            <a:r>
              <a:rPr lang="en-US" sz="2400" dirty="0" err="1"/>
              <a:t>incercat</a:t>
            </a:r>
            <a:r>
              <a:rPr lang="en-US" sz="2400" dirty="0"/>
              <a:t> </a:t>
            </a:r>
            <a:r>
              <a:rPr lang="en-US" sz="2400" dirty="0" err="1"/>
              <a:t>spargerea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penalizare</a:t>
            </a:r>
            <a:r>
              <a:rPr lang="en-US" sz="2400" dirty="0"/>
              <a:t> pe </a:t>
            </a:r>
            <a:r>
              <a:rPr lang="en-US" sz="2400" dirty="0" err="1"/>
              <a:t>aceast</a:t>
            </a:r>
            <a:r>
              <a:rPr lang="en-US" sz="2400" dirty="0"/>
              <a:t> </a:t>
            </a:r>
            <a:r>
              <a:rPr lang="en-US" sz="2400" dirty="0" err="1"/>
              <a:t>valoare</a:t>
            </a:r>
            <a:r>
              <a:rPr lang="en-US" sz="2400" dirty="0"/>
              <a:t> </a:t>
            </a:r>
            <a:r>
              <a:rPr lang="en-US" sz="2400" dirty="0" err="1"/>
              <a:t>apoi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penalizare</a:t>
            </a:r>
            <a:r>
              <a:rPr lang="en-US" sz="2400" dirty="0"/>
              <a:t> </a:t>
            </a:r>
            <a:r>
              <a:rPr lang="en-US" sz="2400" dirty="0" err="1"/>
              <a:t>catre</a:t>
            </a:r>
            <a:r>
              <a:rPr lang="en-US" sz="2400" dirty="0"/>
              <a:t> </a:t>
            </a:r>
            <a:r>
              <a:rPr lang="en-US" sz="2400" dirty="0" err="1"/>
              <a:t>stocurile</a:t>
            </a:r>
            <a:r>
              <a:rPr lang="en-US" sz="2400" dirty="0"/>
              <a:t> </a:t>
            </a:r>
            <a:r>
              <a:rPr lang="en-US" sz="2400" dirty="0" err="1"/>
              <a:t>mici</a:t>
            </a:r>
            <a:r>
              <a:rPr lang="en-US" sz="2400" dirty="0"/>
              <a:t> </a:t>
            </a:r>
            <a:r>
              <a:rPr lang="en-US" sz="2400" dirty="0" err="1"/>
              <a:t>insa</a:t>
            </a:r>
            <a:r>
              <a:rPr lang="en-US" sz="2400" dirty="0"/>
              <a:t> nu a </a:t>
            </a:r>
            <a:r>
              <a:rPr lang="en-US" sz="2400" dirty="0" err="1"/>
              <a:t>ajutat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S-a </a:t>
            </a:r>
            <a:r>
              <a:rPr lang="en-US" sz="2400" dirty="0" err="1"/>
              <a:t>renuntat</a:t>
            </a:r>
            <a:r>
              <a:rPr lang="en-US" sz="2400" dirty="0"/>
              <a:t> la </a:t>
            </a:r>
            <a:r>
              <a:rPr lang="en-US" sz="2400" dirty="0" err="1"/>
              <a:t>conditiile</a:t>
            </a:r>
            <a:r>
              <a:rPr lang="en-US" sz="2400" dirty="0"/>
              <a:t> legate de </a:t>
            </a:r>
            <a:r>
              <a:rPr lang="en-US" sz="2400" dirty="0" err="1"/>
              <a:t>stoc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s-a </a:t>
            </a:r>
            <a:r>
              <a:rPr lang="en-US" sz="2400" dirty="0" err="1"/>
              <a:t>impus</a:t>
            </a:r>
            <a:r>
              <a:rPr lang="en-US" sz="2400" dirty="0"/>
              <a:t> </a:t>
            </a:r>
            <a:r>
              <a:rPr lang="en-US" sz="2400" dirty="0" err="1"/>
              <a:t>penalizare</a:t>
            </a:r>
            <a:r>
              <a:rPr lang="en-US" sz="2400" dirty="0"/>
              <a:t> in </a:t>
            </a:r>
            <a:r>
              <a:rPr lang="en-US" sz="2400" dirty="0" err="1"/>
              <a:t>functie</a:t>
            </a:r>
            <a:r>
              <a:rPr lang="en-US" sz="2400" dirty="0"/>
              <a:t> de </a:t>
            </a:r>
            <a:r>
              <a:rPr lang="en-US" sz="2400" dirty="0" err="1"/>
              <a:t>caracteristici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diversitate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obtine</a:t>
            </a:r>
            <a:r>
              <a:rPr lang="en-US" sz="2400" dirty="0"/>
              <a:t> date care par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reale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195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Va </a:t>
            </a:r>
            <a:r>
              <a:rPr lang="en-US" dirty="0" err="1"/>
              <a:t>multumesc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Lacatus Arpad-Alex TIE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{9C69B889-A08C-4095-8177-A889557B3615}TF020710ce-b2a3-4743-8ec4-0abcd2574951ef9f6aa4_win32-415a623b9e9a</Template>
  <TotalTime>0</TotalTime>
  <Words>2072</Words>
  <Application>Microsoft Office PowerPoint</Application>
  <PresentationFormat>Widescreen</PresentationFormat>
  <Paragraphs>162</Paragraphs>
  <Slides>34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Calibri</vt:lpstr>
      <vt:lpstr>Univers Condensed Light</vt:lpstr>
      <vt:lpstr>Walbaum Display Light</vt:lpstr>
      <vt:lpstr>Wingdings</vt:lpstr>
      <vt:lpstr>AngleLinesVTI</vt:lpstr>
      <vt:lpstr>Wgan-gp hybrid pentru generare de tranzactii  Lacatus Arpad-Alex TIE</vt:lpstr>
      <vt:lpstr>AGENDA</vt:lpstr>
      <vt:lpstr>Arhitectura</vt:lpstr>
      <vt:lpstr>Parti principale</vt:lpstr>
      <vt:lpstr>Algoritm de generare date reale (sintetice)</vt:lpstr>
      <vt:lpstr>Arhitectura WGAN-GP Hibrida</vt:lpstr>
      <vt:lpstr>Cod sursa generator</vt:lpstr>
      <vt:lpstr>Criticul</vt:lpstr>
      <vt:lpstr>Functia de cost</vt:lpstr>
      <vt:lpstr>Cod sursa pentru functi de loss</vt:lpstr>
      <vt:lpstr>Mecanisme de stabilitate</vt:lpstr>
      <vt:lpstr>Algoritm de generare folosind modelul antrenat</vt:lpstr>
      <vt:lpstr>Api care expune modelul</vt:lpstr>
      <vt:lpstr>Back-end pentru mapare - GenerationService</vt:lpstr>
      <vt:lpstr>Back-end pentru mapare - Stratul de Mapare si Transformare</vt:lpstr>
      <vt:lpstr>Back-end pentru mapare – Cod sursa</vt:lpstr>
      <vt:lpstr>Set de date</vt:lpstr>
      <vt:lpstr>Set de date sintetice </vt:lpstr>
      <vt:lpstr>Set de date sintetice </vt:lpstr>
      <vt:lpstr>Mapare Inversa</vt:lpstr>
      <vt:lpstr>Cod si exemplu mapper invers </vt:lpstr>
      <vt:lpstr>Instructiuni de utilizare</vt:lpstr>
      <vt:lpstr>Instructiuni</vt:lpstr>
      <vt:lpstr>Exemplu de request</vt:lpstr>
      <vt:lpstr>Exemplu de raspuns</vt:lpstr>
      <vt:lpstr>Evaluare</vt:lpstr>
      <vt:lpstr>Invatare</vt:lpstr>
      <vt:lpstr>Invatare</vt:lpstr>
      <vt:lpstr>Invatare</vt:lpstr>
      <vt:lpstr>Rezultate Inainte de mapare</vt:lpstr>
      <vt:lpstr>Rezultate dupa mapare</vt:lpstr>
      <vt:lpstr>Discutii</vt:lpstr>
      <vt:lpstr>Evaluarea modelului si mode colapse</vt:lpstr>
      <vt:lpstr>Va multumesc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Arpad Alex Lacatus</dc:creator>
  <cp:lastModifiedBy>Arpad Alex Lacatus</cp:lastModifiedBy>
  <cp:revision>1</cp:revision>
  <dcterms:created xsi:type="dcterms:W3CDTF">2025-11-03T09:05:37Z</dcterms:created>
  <dcterms:modified xsi:type="dcterms:W3CDTF">2025-11-03T17:32:58Z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2025-11-03T17:32:09Z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4af85cb4-fb1b-4fd0-b713-bcc709fc95ef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